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20 from Section 13. Our Review 1 project is a Linux signal based process communication and control system. In simple words, one parent program will create and control three child programs using signals, which are small messages delivered by the Linux kernel. In this review we will present the problem, our objectives, the proposed design, and the tools we plan to use. The work is at the proposal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summarises the whole idea. A process is simply a running program. Our parent process will create three children and then control them using signals, which are short notifications delivered by the Linux kernel. Commands can come from the menu or from another terminal through a FIFO, and the children answer back through a pipe. The parent will also clean up finished children so that no zombie entries remain. All of this is proposed work for this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gap we want to close. When a program creates several child processes, it has no simple built in way to pause them, ask how they are doing, or stop them politely, and forgotten children remain in the process table as zombies. On the right is why this matters. Linux already solves this with signals, and everyday tools such as the shell and web servers use exactly these mechanisms. Building it ourselves makes the idea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five objectives, written as work we plan to do. First, create one parent and three children and group them together. Second, be able to control either a single child or the whole group. Third, use signals for every action instead of ad hoc tricks. Fourth, move information both ways, events coming back through a pipe and commands coming in through a FIFO. Fifth, confirm the state from the kernel and clean up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proposed design. A command can come from our own menu or from a second terminal through the named FIFO, which is a special file two programs can use to talk. The parent then asks the kernel to deliver a signal, using kill. The kernel delivers it to one child by its process ID, or to all three at once because they share a process group. Each child reacts and sends a short event back through the pipe.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planned flow in six steps. The shell starts our program, the parent creates three children, and each child says in advance how it will react to each signal. When the user gives a command, the parent asks the kernel to deliver the matching signal. The child acts on it and sends a short event back through the pipe, and the parent confirms the new state and cleans up when a child exits. This loop repeats for every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signals we plan to use. SIGUSR1 and SIGUSR2 are user defined signals, so we decide their meaning: one asks for status, the other triggers a sample task. SIGSTOP and SIGCONT pause and resume a child. SIGTERM is a polite request to exit. SIGCHLD is different in direction: the kernel sends it to the parent whenever a child stops, continues or exits. Please note the box at the bottom about SIGSTOP.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Linux interfaces we plan to use, grouped into four simple ideas. Process control creates the children and lets the parent wait on them. Signal programming decides how each signal is handled and sends it. Communication covers the pipe and the FIFO that carry events and commands. Finally, the proc file system is information the kernel provides about each process; our program only reads it to confirm whether a child is running, sleeping or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we will work with. The project will be written in C, because C lets us call Linux system calls directly, and compiled with GCC on Ubuntu. POSIX is the standard that defines these process and signal functions. We will run the program in a terminal and use a second terminal to send FIFO commands. All our work will be pushed to the GitHub repository shown at the bottom of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expect the finished system to do. A user will open a menu, pick a child or the whole group, and choose an action such as pause, resume, status or stop. Events from the children will appear as they happen, and a second terminal will be able to send the same commands through the FIFO. The parent will confirm each state from the kernel and clean up every finished child. This is our target, not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plan to build the system in five stages. First, get the parent and the three children running correctly. Second, add signal handling so the children react safely. Third, add the pipe and the FIFO so information flows both ways. Fourth, add state tracking, where SIGCHLD tells the parent that a child changed state and the proc file confirms it. Finally, test the complete lifecycle and make sure nothing is left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project shows how Linux processes talk to each other and change state using signals, pipes, FIFOs and process groups, with the kernel doing the actual delivery. Everything presented today is the proposed design for Review 1. Our next step is Stage 1, creating the parent and the three children. The repository link is on the slide. Thank you for listening.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p:spPr>
      </p:sp>
      <p:sp>
        <p:nvSpPr>
          <p:cNvPr id="3" name="Text 1"/>
          <p:cNvSpPr txBox="1"/>
          <p:nvPr/>
        </p:nvSpPr>
        <p:spPr>
          <a:xfrm>
            <a:off x="914400" y="868680"/>
            <a:ext cx="10360152" cy="365760"/>
          </a:xfrm>
          <a:prstGeom prst="rect">
            <a:avLst/>
          </a:prstGeom>
          <a:noFill/>
          <a:ln/>
        </p:spPr>
        <p:txBody>
          <a:bodyPr wrap="square" lIns="0" tIns="0" rIns="0" bIns="0" rtlCol="0" anchor="ctr"/>
          <a:lstStyle/>
          <a:p>
            <a:pPr algn="ctr" indent="0" marL="0">
              <a:buNone/>
            </a:pPr>
            <a:r>
              <a:rPr lang="en-US" sz="1600" b="1" spc="300" kern="0" dirty="0">
                <a:solidFill>
                  <a:srgbClr val="00A896"/>
                </a:solidFill>
                <a:latin typeface="Calibri" pitchFamily="34" charset="0"/>
                <a:ea typeface="Calibri" pitchFamily="34" charset="-122"/>
                <a:cs typeface="Calibri" pitchFamily="34" charset="-120"/>
              </a:rPr>
              <a:t>PROJECT REVIEW 1</a:t>
            </a:r>
            <a:endParaRPr lang="en-US" sz="1600" dirty="0"/>
          </a:p>
        </p:txBody>
      </p:sp>
      <p:sp>
        <p:nvSpPr>
          <p:cNvPr id="4" name="Text 2"/>
          <p:cNvSpPr txBox="1"/>
          <p:nvPr/>
        </p:nvSpPr>
        <p:spPr>
          <a:xfrm>
            <a:off x="822960" y="1371600"/>
            <a:ext cx="10543032" cy="1737360"/>
          </a:xfrm>
          <a:prstGeom prst="rect">
            <a:avLst/>
          </a:prstGeom>
          <a:noFill/>
          <a:ln/>
        </p:spPr>
        <p:txBody>
          <a:bodyPr wrap="square" lIns="0" tIns="0" rIns="0" bIns="0" rtlCol="0" anchor="ctr"/>
          <a:lstStyle/>
          <a:p>
            <a:pPr algn="ctr" indent="0" marL="0">
              <a:lnSpc>
                <a:spcPts val="4600"/>
              </a:lnSpc>
              <a:buNone/>
            </a:pPr>
            <a:r>
              <a:rPr lang="en-US" sz="4200" b="1" dirty="0">
                <a:solidFill>
                  <a:srgbClr val="FFFFFF"/>
                </a:solidFill>
                <a:latin typeface="Calibri" pitchFamily="34" charset="0"/>
                <a:ea typeface="Calibri" pitchFamily="34" charset="-122"/>
                <a:cs typeface="Calibri" pitchFamily="34" charset="-120"/>
              </a:rPr>
              <a:t>Linux Signal-Based Process</a:t>
            </a:r>
            <a:endParaRPr lang="en-US" sz="4200" dirty="0"/>
          </a:p>
          <a:p>
            <a:pPr algn="ctr" indent="0" marL="0">
              <a:lnSpc>
                <a:spcPts val="4600"/>
              </a:lnSpc>
              <a:buNone/>
            </a:pPr>
            <a:r>
              <a:rPr lang="en-US" sz="4200" b="1" dirty="0">
                <a:solidFill>
                  <a:srgbClr val="FFFFFF"/>
                </a:solidFill>
                <a:latin typeface="Calibri" pitchFamily="34" charset="0"/>
                <a:ea typeface="Calibri" pitchFamily="34" charset="-122"/>
                <a:cs typeface="Calibri" pitchFamily="34" charset="-120"/>
              </a:rPr>
              <a:t>Communication and Control System</a:t>
            </a:r>
            <a:endParaRPr lang="en-US" sz="4200" dirty="0"/>
          </a:p>
        </p:txBody>
      </p:sp>
      <p:sp>
        <p:nvSpPr>
          <p:cNvPr id="5" name="Text 3"/>
          <p:cNvSpPr txBox="1"/>
          <p:nvPr/>
        </p:nvSpPr>
        <p:spPr>
          <a:xfrm>
            <a:off x="822960" y="3154680"/>
            <a:ext cx="10543032" cy="365760"/>
          </a:xfrm>
          <a:prstGeom prst="rect">
            <a:avLst/>
          </a:prstGeom>
          <a:noFill/>
          <a:ln/>
        </p:spPr>
        <p:txBody>
          <a:bodyPr wrap="square" lIns="0" tIns="0" rIns="0" bIns="0" rtlCol="0" anchor="ctr"/>
          <a:lstStyle/>
          <a:p>
            <a:pPr algn="ctr" indent="0" marL="0">
              <a:buNone/>
            </a:pPr>
            <a:r>
              <a:rPr lang="en-US" sz="1700" dirty="0">
                <a:solidFill>
                  <a:srgbClr val="B9C7D4"/>
                </a:solidFill>
                <a:latin typeface="Calibri" pitchFamily="34" charset="0"/>
                <a:ea typeface="Calibri" pitchFamily="34" charset="-122"/>
                <a:cs typeface="Calibri" pitchFamily="34" charset="-120"/>
              </a:rPr>
              <a:t>Operating Systems and Systems Programming  |  25CS2104E  |  2026–27, Term I</a:t>
            </a:r>
            <a:endParaRPr lang="en-US" sz="1700" dirty="0"/>
          </a:p>
        </p:txBody>
      </p:sp>
      <p:sp>
        <p:nvSpPr>
          <p:cNvPr id="6" name="Shape 4"/>
          <p:cNvSpPr/>
          <p:nvPr/>
        </p:nvSpPr>
        <p:spPr>
          <a:xfrm>
            <a:off x="4361688" y="3703320"/>
            <a:ext cx="3474720" cy="502920"/>
          </a:xfrm>
          <a:prstGeom prst="roundRect">
            <a:avLst>
              <a:gd name="adj" fmla="val 45455"/>
            </a:avLst>
          </a:prstGeom>
          <a:solidFill>
            <a:srgbClr val="00A896"/>
          </a:solidFill>
          <a:ln w="12700">
            <a:solidFill>
              <a:srgbClr val="00A896"/>
            </a:solidFill>
            <a:prstDash val="solid"/>
          </a:ln>
        </p:spPr>
      </p:sp>
      <p:sp>
        <p:nvSpPr>
          <p:cNvPr id="7" name="Text 5"/>
          <p:cNvSpPr txBox="1"/>
          <p:nvPr/>
        </p:nvSpPr>
        <p:spPr>
          <a:xfrm>
            <a:off x="4361688" y="3703320"/>
            <a:ext cx="3474720" cy="502920"/>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Team 20   •   Section 13</a:t>
            </a:r>
            <a:endParaRPr lang="en-US" sz="1700" dirty="0"/>
          </a:p>
        </p:txBody>
      </p:sp>
      <p:sp>
        <p:nvSpPr>
          <p:cNvPr id="8" name="Shape 6"/>
          <p:cNvSpPr/>
          <p:nvPr/>
        </p:nvSpPr>
        <p:spPr>
          <a:xfrm>
            <a:off x="681228" y="4709160"/>
            <a:ext cx="2514600" cy="1051560"/>
          </a:xfrm>
          <a:prstGeom prst="roundRect">
            <a:avLst>
              <a:gd name="adj" fmla="val 6957"/>
            </a:avLst>
          </a:prstGeom>
          <a:solidFill>
            <a:srgbClr val="14314F"/>
          </a:solidFill>
          <a:ln w="12700">
            <a:solidFill>
              <a:srgbClr val="2A4A66"/>
            </a:solidFill>
            <a:prstDash val="solid"/>
          </a:ln>
        </p:spPr>
      </p:sp>
      <p:sp>
        <p:nvSpPr>
          <p:cNvPr id="9" name="Text 7"/>
          <p:cNvSpPr txBox="1"/>
          <p:nvPr/>
        </p:nvSpPr>
        <p:spPr>
          <a:xfrm>
            <a:off x="772668" y="4846320"/>
            <a:ext cx="23317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Lahari Namala</a:t>
            </a:r>
            <a:endParaRPr lang="en-US" sz="1500" dirty="0"/>
          </a:p>
        </p:txBody>
      </p:sp>
      <p:sp>
        <p:nvSpPr>
          <p:cNvPr id="10" name="Text 8"/>
          <p:cNvSpPr txBox="1"/>
          <p:nvPr/>
        </p:nvSpPr>
        <p:spPr>
          <a:xfrm>
            <a:off x="772668" y="5230368"/>
            <a:ext cx="2331720" cy="320040"/>
          </a:xfrm>
          <a:prstGeom prst="rect">
            <a:avLst/>
          </a:prstGeom>
          <a:noFill/>
          <a:ln/>
        </p:spPr>
        <p:txBody>
          <a:bodyPr wrap="square" lIns="0" tIns="0" rIns="0" bIns="0" rtlCol="0" anchor="ctr"/>
          <a:lstStyle/>
          <a:p>
            <a:pPr algn="ctr" indent="0" marL="0">
              <a:buNone/>
            </a:pPr>
            <a:r>
              <a:rPr lang="en-US" sz="1300" dirty="0">
                <a:solidFill>
                  <a:srgbClr val="00A896"/>
                </a:solidFill>
                <a:latin typeface="Courier New" pitchFamily="34" charset="0"/>
                <a:ea typeface="Courier New" pitchFamily="34" charset="-122"/>
                <a:cs typeface="Courier New" pitchFamily="34" charset="-120"/>
              </a:rPr>
              <a:t>2520090226</a:t>
            </a:r>
            <a:endParaRPr lang="en-US" sz="1300" dirty="0"/>
          </a:p>
        </p:txBody>
      </p:sp>
      <p:sp>
        <p:nvSpPr>
          <p:cNvPr id="11" name="Shape 9"/>
          <p:cNvSpPr/>
          <p:nvPr/>
        </p:nvSpPr>
        <p:spPr>
          <a:xfrm>
            <a:off x="3451860" y="4709160"/>
            <a:ext cx="2514600" cy="1051560"/>
          </a:xfrm>
          <a:prstGeom prst="roundRect">
            <a:avLst>
              <a:gd name="adj" fmla="val 6957"/>
            </a:avLst>
          </a:prstGeom>
          <a:solidFill>
            <a:srgbClr val="14314F"/>
          </a:solidFill>
          <a:ln w="12700">
            <a:solidFill>
              <a:srgbClr val="2A4A66"/>
            </a:solidFill>
            <a:prstDash val="solid"/>
          </a:ln>
        </p:spPr>
      </p:sp>
      <p:sp>
        <p:nvSpPr>
          <p:cNvPr id="12" name="Text 10"/>
          <p:cNvSpPr txBox="1"/>
          <p:nvPr/>
        </p:nvSpPr>
        <p:spPr>
          <a:xfrm>
            <a:off x="3543300" y="4846320"/>
            <a:ext cx="23317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 Keathana Vikashini</a:t>
            </a:r>
            <a:endParaRPr lang="en-US" sz="1500" dirty="0"/>
          </a:p>
        </p:txBody>
      </p:sp>
      <p:sp>
        <p:nvSpPr>
          <p:cNvPr id="13" name="Text 11"/>
          <p:cNvSpPr txBox="1"/>
          <p:nvPr/>
        </p:nvSpPr>
        <p:spPr>
          <a:xfrm>
            <a:off x="3543300" y="5230368"/>
            <a:ext cx="2331720" cy="320040"/>
          </a:xfrm>
          <a:prstGeom prst="rect">
            <a:avLst/>
          </a:prstGeom>
          <a:noFill/>
          <a:ln/>
        </p:spPr>
        <p:txBody>
          <a:bodyPr wrap="square" lIns="0" tIns="0" rIns="0" bIns="0" rtlCol="0" anchor="ctr"/>
          <a:lstStyle/>
          <a:p>
            <a:pPr algn="ctr" indent="0" marL="0">
              <a:buNone/>
            </a:pPr>
            <a:r>
              <a:rPr lang="en-US" sz="1300" dirty="0">
                <a:solidFill>
                  <a:srgbClr val="00A896"/>
                </a:solidFill>
                <a:latin typeface="Courier New" pitchFamily="34" charset="0"/>
                <a:ea typeface="Courier New" pitchFamily="34" charset="-122"/>
                <a:cs typeface="Courier New" pitchFamily="34" charset="-120"/>
              </a:rPr>
              <a:t>2520090236</a:t>
            </a:r>
            <a:endParaRPr lang="en-US" sz="1300" dirty="0"/>
          </a:p>
        </p:txBody>
      </p:sp>
      <p:sp>
        <p:nvSpPr>
          <p:cNvPr id="14" name="Shape 12"/>
          <p:cNvSpPr/>
          <p:nvPr/>
        </p:nvSpPr>
        <p:spPr>
          <a:xfrm>
            <a:off x="6222492" y="4709160"/>
            <a:ext cx="2514600" cy="1051560"/>
          </a:xfrm>
          <a:prstGeom prst="roundRect">
            <a:avLst>
              <a:gd name="adj" fmla="val 6957"/>
            </a:avLst>
          </a:prstGeom>
          <a:solidFill>
            <a:srgbClr val="14314F"/>
          </a:solidFill>
          <a:ln w="12700">
            <a:solidFill>
              <a:srgbClr val="2A4A66"/>
            </a:solidFill>
            <a:prstDash val="solid"/>
          </a:ln>
        </p:spPr>
      </p:sp>
      <p:sp>
        <p:nvSpPr>
          <p:cNvPr id="15" name="Text 13"/>
          <p:cNvSpPr txBox="1"/>
          <p:nvPr/>
        </p:nvSpPr>
        <p:spPr>
          <a:xfrm>
            <a:off x="6313932" y="4846320"/>
            <a:ext cx="23317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 Poojitha</a:t>
            </a:r>
            <a:endParaRPr lang="en-US" sz="1500" dirty="0"/>
          </a:p>
        </p:txBody>
      </p:sp>
      <p:sp>
        <p:nvSpPr>
          <p:cNvPr id="16" name="Text 14"/>
          <p:cNvSpPr txBox="1"/>
          <p:nvPr/>
        </p:nvSpPr>
        <p:spPr>
          <a:xfrm>
            <a:off x="6313932" y="5230368"/>
            <a:ext cx="2331720" cy="320040"/>
          </a:xfrm>
          <a:prstGeom prst="rect">
            <a:avLst/>
          </a:prstGeom>
          <a:noFill/>
          <a:ln/>
        </p:spPr>
        <p:txBody>
          <a:bodyPr wrap="square" lIns="0" tIns="0" rIns="0" bIns="0" rtlCol="0" anchor="ctr"/>
          <a:lstStyle/>
          <a:p>
            <a:pPr algn="ctr" indent="0" marL="0">
              <a:buNone/>
            </a:pPr>
            <a:r>
              <a:rPr lang="en-US" sz="1300" dirty="0">
                <a:solidFill>
                  <a:srgbClr val="00A896"/>
                </a:solidFill>
                <a:latin typeface="Courier New" pitchFamily="34" charset="0"/>
                <a:ea typeface="Courier New" pitchFamily="34" charset="-122"/>
                <a:cs typeface="Courier New" pitchFamily="34" charset="-120"/>
              </a:rPr>
              <a:t>2520090234</a:t>
            </a:r>
            <a:endParaRPr lang="en-US" sz="1300" dirty="0"/>
          </a:p>
        </p:txBody>
      </p:sp>
      <p:sp>
        <p:nvSpPr>
          <p:cNvPr id="17" name="Shape 15"/>
          <p:cNvSpPr/>
          <p:nvPr/>
        </p:nvSpPr>
        <p:spPr>
          <a:xfrm>
            <a:off x="8993124" y="4709160"/>
            <a:ext cx="2514600" cy="1051560"/>
          </a:xfrm>
          <a:prstGeom prst="roundRect">
            <a:avLst>
              <a:gd name="adj" fmla="val 6957"/>
            </a:avLst>
          </a:prstGeom>
          <a:solidFill>
            <a:srgbClr val="14314F"/>
          </a:solidFill>
          <a:ln w="12700">
            <a:solidFill>
              <a:srgbClr val="2A4A66"/>
            </a:solidFill>
            <a:prstDash val="solid"/>
          </a:ln>
        </p:spPr>
      </p:sp>
      <p:sp>
        <p:nvSpPr>
          <p:cNvPr id="18" name="Text 16"/>
          <p:cNvSpPr txBox="1"/>
          <p:nvPr/>
        </p:nvSpPr>
        <p:spPr>
          <a:xfrm>
            <a:off x="9084564" y="4846320"/>
            <a:ext cx="23317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 Bhagya Sri</a:t>
            </a:r>
            <a:endParaRPr lang="en-US" sz="1500" dirty="0"/>
          </a:p>
        </p:txBody>
      </p:sp>
      <p:sp>
        <p:nvSpPr>
          <p:cNvPr id="19" name="Text 17"/>
          <p:cNvSpPr txBox="1"/>
          <p:nvPr/>
        </p:nvSpPr>
        <p:spPr>
          <a:xfrm>
            <a:off x="9084564" y="5230368"/>
            <a:ext cx="2331720" cy="320040"/>
          </a:xfrm>
          <a:prstGeom prst="rect">
            <a:avLst/>
          </a:prstGeom>
          <a:noFill/>
          <a:ln/>
        </p:spPr>
        <p:txBody>
          <a:bodyPr wrap="square" lIns="0" tIns="0" rIns="0" bIns="0" rtlCol="0" anchor="ctr"/>
          <a:lstStyle/>
          <a:p>
            <a:pPr algn="ctr" indent="0" marL="0">
              <a:buNone/>
            </a:pPr>
            <a:r>
              <a:rPr lang="en-US" sz="1300" dirty="0">
                <a:solidFill>
                  <a:srgbClr val="00A896"/>
                </a:solidFill>
                <a:latin typeface="Courier New" pitchFamily="34" charset="0"/>
                <a:ea typeface="Courier New" pitchFamily="34" charset="-122"/>
                <a:cs typeface="Courier New" pitchFamily="34" charset="-120"/>
              </a:rPr>
              <a:t>2520080024</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200" b="1" dirty="0">
                <a:solidFill>
                  <a:srgbClr val="0B1F3A"/>
                </a:solidFill>
                <a:latin typeface="Calibri" pitchFamily="34" charset="0"/>
                <a:ea typeface="Calibri" pitchFamily="34" charset="-122"/>
                <a:cs typeface="Calibri" pitchFamily="34" charset="-120"/>
              </a:rPr>
              <a:t>Abstract</a:t>
            </a:r>
            <a:endParaRPr lang="en-US" sz="3200" dirty="0"/>
          </a:p>
        </p:txBody>
      </p:sp>
      <p:sp>
        <p:nvSpPr>
          <p:cNvPr id="3" name="Shape 1"/>
          <p:cNvSpPr/>
          <p:nvPr/>
        </p:nvSpPr>
        <p:spPr>
          <a:xfrm>
            <a:off x="548640" y="1234440"/>
            <a:ext cx="6858000" cy="4206240"/>
          </a:xfrm>
          <a:prstGeom prst="roundRect">
            <a:avLst>
              <a:gd name="adj" fmla="val 1739"/>
            </a:avLst>
          </a:prstGeom>
          <a:solidFill>
            <a:srgbClr val="FFFFFF"/>
          </a:solidFill>
          <a:ln w="12700">
            <a:solidFill>
              <a:srgbClr val="D8E1E8"/>
            </a:solidFill>
            <a:prstDash val="solid"/>
          </a:ln>
        </p:spPr>
      </p:sp>
      <p:sp>
        <p:nvSpPr>
          <p:cNvPr id="4" name="Text 2"/>
          <p:cNvSpPr txBox="1"/>
          <p:nvPr/>
        </p:nvSpPr>
        <p:spPr>
          <a:xfrm>
            <a:off x="868680" y="1554480"/>
            <a:ext cx="6217920" cy="3566160"/>
          </a:xfrm>
          <a:prstGeom prst="rect">
            <a:avLst/>
          </a:prstGeom>
          <a:noFill/>
          <a:ln/>
        </p:spPr>
        <p:txBody>
          <a:bodyPr wrap="square" lIns="0" tIns="0" rIns="0" bIns="0" rtlCol="0" anchor="t"/>
          <a:lstStyle/>
          <a:p>
            <a:pPr indent="0" marL="0">
              <a:lnSpc>
                <a:spcPts val="2500"/>
              </a:lnSpc>
              <a:buNone/>
            </a:pPr>
            <a:r>
              <a:rPr lang="en-US" sz="1700" dirty="0">
                <a:solidFill>
                  <a:srgbClr val="4F6275"/>
                </a:solidFill>
                <a:latin typeface="Calibri" pitchFamily="34" charset="0"/>
                <a:ea typeface="Calibri" pitchFamily="34" charset="-122"/>
                <a:cs typeface="Calibri" pitchFamily="34" charset="-120"/>
              </a:rPr>
              <a:t>The project proposes a Linux based control system in which </a:t>
            </a:r>
            <a:pPr indent="0" marL="0">
              <a:lnSpc>
                <a:spcPts val="2500"/>
              </a:lnSpc>
              <a:buNone/>
            </a:pPr>
            <a:r>
              <a:rPr lang="en-US" sz="1700" b="1" dirty="0">
                <a:solidFill>
                  <a:srgbClr val="0B1F3A"/>
                </a:solidFill>
                <a:latin typeface="Calibri" pitchFamily="34" charset="0"/>
                <a:ea typeface="Calibri" pitchFamily="34" charset="-122"/>
                <a:cs typeface="Calibri" pitchFamily="34" charset="-120"/>
              </a:rPr>
              <a:t>one parent process creates and manages three child worker processes</a:t>
            </a:r>
            <a:pPr indent="0" marL="0">
              <a:lnSpc>
                <a:spcPts val="2500"/>
              </a:lnSpc>
              <a:spcAft>
                <a:spcPts val="1200"/>
              </a:spcAft>
              <a:buNone/>
            </a:pPr>
            <a:r>
              <a:rPr lang="en-US" sz="1700" dirty="0">
                <a:solidFill>
                  <a:srgbClr val="4F6275"/>
                </a:solidFill>
                <a:latin typeface="Calibri" pitchFamily="34" charset="0"/>
                <a:ea typeface="Calibri" pitchFamily="34" charset="-122"/>
                <a:cs typeface="Calibri" pitchFamily="34" charset="-120"/>
              </a:rPr>
              <a:t>.</a:t>
            </a:r>
            <a:endParaRPr lang="en-US" sz="1700" dirty="0"/>
          </a:p>
          <a:p>
            <a:pPr indent="0" marL="0">
              <a:lnSpc>
                <a:spcPts val="2500"/>
              </a:lnSpc>
              <a:buNone/>
            </a:pPr>
            <a:r>
              <a:rPr lang="en-US" sz="1700" dirty="0">
                <a:solidFill>
                  <a:srgbClr val="4F6275"/>
                </a:solidFill>
                <a:latin typeface="Calibri" pitchFamily="34" charset="0"/>
                <a:ea typeface="Calibri" pitchFamily="34" charset="-122"/>
                <a:cs typeface="Calibri" pitchFamily="34" charset="-120"/>
              </a:rPr>
              <a:t>The parent uses </a:t>
            </a:r>
            <a:pPr indent="0" marL="0">
              <a:lnSpc>
                <a:spcPts val="2500"/>
              </a:lnSpc>
              <a:buNone/>
            </a:pPr>
            <a:r>
              <a:rPr lang="en-US" sz="1700" b="1" dirty="0">
                <a:solidFill>
                  <a:srgbClr val="0B1F3A"/>
                </a:solidFill>
                <a:latin typeface="Calibri" pitchFamily="34" charset="0"/>
                <a:ea typeface="Calibri" pitchFamily="34" charset="-122"/>
                <a:cs typeface="Calibri" pitchFamily="34" charset="-120"/>
              </a:rPr>
              <a:t>POSIX signals</a:t>
            </a:r>
            <a:pPr indent="0" marL="0">
              <a:lnSpc>
                <a:spcPts val="2500"/>
              </a:lnSpc>
              <a:buNone/>
            </a:pPr>
            <a:r>
              <a:rPr lang="en-US" sz="1700" dirty="0">
                <a:solidFill>
                  <a:srgbClr val="4F6275"/>
                </a:solidFill>
                <a:latin typeface="Calibri" pitchFamily="34" charset="0"/>
                <a:ea typeface="Calibri" pitchFamily="34" charset="-122"/>
                <a:cs typeface="Calibri" pitchFamily="34" charset="-120"/>
              </a:rPr>
              <a:t> to pause, resume, request status and stop the children — either </a:t>
            </a:r>
            <a:pPr indent="0" marL="0">
              <a:lnSpc>
                <a:spcPts val="2500"/>
              </a:lnSpc>
              <a:buNone/>
            </a:pPr>
            <a:r>
              <a:rPr lang="en-US" sz="1700" b="1" dirty="0">
                <a:solidFill>
                  <a:srgbClr val="0B1F3A"/>
                </a:solidFill>
                <a:latin typeface="Calibri" pitchFamily="34" charset="0"/>
                <a:ea typeface="Calibri" pitchFamily="34" charset="-122"/>
                <a:cs typeface="Calibri" pitchFamily="34" charset="-120"/>
              </a:rPr>
              <a:t>one child by its PID</a:t>
            </a:r>
            <a:pPr indent="0" marL="0">
              <a:lnSpc>
                <a:spcPts val="2500"/>
              </a:lnSpc>
              <a:buNone/>
            </a:pPr>
            <a:r>
              <a:rPr lang="en-US" sz="1700" dirty="0">
                <a:solidFill>
                  <a:srgbClr val="4F6275"/>
                </a:solidFill>
                <a:latin typeface="Calibri" pitchFamily="34" charset="0"/>
                <a:ea typeface="Calibri" pitchFamily="34" charset="-122"/>
                <a:cs typeface="Calibri" pitchFamily="34" charset="-120"/>
              </a:rPr>
              <a:t> or </a:t>
            </a:r>
            <a:pPr indent="0" marL="0">
              <a:lnSpc>
                <a:spcPts val="2500"/>
              </a:lnSpc>
              <a:buNone/>
            </a:pPr>
            <a:r>
              <a:rPr lang="en-US" sz="1700" b="1" dirty="0">
                <a:solidFill>
                  <a:srgbClr val="0B1F3A"/>
                </a:solidFill>
                <a:latin typeface="Calibri" pitchFamily="34" charset="0"/>
                <a:ea typeface="Calibri" pitchFamily="34" charset="-122"/>
                <a:cs typeface="Calibri" pitchFamily="34" charset="-120"/>
              </a:rPr>
              <a:t>all three together as a process group</a:t>
            </a:r>
            <a:pPr indent="0" marL="0">
              <a:lnSpc>
                <a:spcPts val="2500"/>
              </a:lnSpc>
              <a:spcAft>
                <a:spcPts val="1200"/>
              </a:spcAft>
              <a:buNone/>
            </a:pPr>
            <a:r>
              <a:rPr lang="en-US" sz="1700" dirty="0">
                <a:solidFill>
                  <a:srgbClr val="4F6275"/>
                </a:solidFill>
                <a:latin typeface="Calibri" pitchFamily="34" charset="0"/>
                <a:ea typeface="Calibri" pitchFamily="34" charset="-122"/>
                <a:cs typeface="Calibri" pitchFamily="34" charset="-120"/>
              </a:rPr>
              <a:t>.</a:t>
            </a:r>
            <a:endParaRPr lang="en-US" sz="1700" dirty="0"/>
          </a:p>
          <a:p>
            <a:pPr indent="0" marL="0">
              <a:lnSpc>
                <a:spcPts val="2500"/>
              </a:lnSpc>
              <a:buNone/>
            </a:pPr>
            <a:r>
              <a:rPr lang="en-US" sz="1700" dirty="0">
                <a:solidFill>
                  <a:srgbClr val="4F6275"/>
                </a:solidFill>
                <a:latin typeface="Calibri" pitchFamily="34" charset="0"/>
                <a:ea typeface="Calibri" pitchFamily="34" charset="-122"/>
                <a:cs typeface="Calibri" pitchFamily="34" charset="-120"/>
              </a:rPr>
              <a:t>Children report events back through an </a:t>
            </a:r>
            <a:pPr indent="0" marL="0">
              <a:lnSpc>
                <a:spcPts val="2500"/>
              </a:lnSpc>
              <a:buNone/>
            </a:pPr>
            <a:r>
              <a:rPr lang="en-US" sz="1700" b="1" dirty="0">
                <a:solidFill>
                  <a:srgbClr val="0B1F3A"/>
                </a:solidFill>
                <a:latin typeface="Calibri" pitchFamily="34" charset="0"/>
                <a:ea typeface="Calibri" pitchFamily="34" charset="-122"/>
                <a:cs typeface="Calibri" pitchFamily="34" charset="-120"/>
              </a:rPr>
              <a:t>anonymous pipe</a:t>
            </a:r>
            <a:pPr indent="0" marL="0">
              <a:lnSpc>
                <a:spcPts val="2500"/>
              </a:lnSpc>
              <a:buNone/>
            </a:pPr>
            <a:r>
              <a:rPr lang="en-US" sz="1700" dirty="0">
                <a:solidFill>
                  <a:srgbClr val="4F6275"/>
                </a:solidFill>
                <a:latin typeface="Calibri" pitchFamily="34" charset="0"/>
                <a:ea typeface="Calibri" pitchFamily="34" charset="-122"/>
                <a:cs typeface="Calibri" pitchFamily="34" charset="-120"/>
              </a:rPr>
              <a:t>, and a second terminal can send commands through a </a:t>
            </a:r>
            <a:pPr indent="0" marL="0">
              <a:lnSpc>
                <a:spcPts val="2500"/>
              </a:lnSpc>
              <a:buNone/>
            </a:pPr>
            <a:r>
              <a:rPr lang="en-US" sz="1700" b="1" dirty="0">
                <a:solidFill>
                  <a:srgbClr val="0B1F3A"/>
                </a:solidFill>
                <a:latin typeface="Calibri" pitchFamily="34" charset="0"/>
                <a:ea typeface="Calibri" pitchFamily="34" charset="-122"/>
                <a:cs typeface="Calibri" pitchFamily="34" charset="-120"/>
              </a:rPr>
              <a:t>named FIFO</a:t>
            </a:r>
            <a:pPr indent="0" marL="0">
              <a:lnSpc>
                <a:spcPts val="2500"/>
              </a:lnSpc>
              <a:spcAft>
                <a:spcPts val="1200"/>
              </a:spcAft>
              <a:buNone/>
            </a:pPr>
            <a:r>
              <a:rPr lang="en-US" sz="1700" dirty="0">
                <a:solidFill>
                  <a:srgbClr val="4F6275"/>
                </a:solidFill>
                <a:latin typeface="Calibri" pitchFamily="34" charset="0"/>
                <a:ea typeface="Calibri" pitchFamily="34" charset="-122"/>
                <a:cs typeface="Calibri" pitchFamily="34" charset="-120"/>
              </a:rPr>
              <a:t>.</a:t>
            </a:r>
            <a:endParaRPr lang="en-US" sz="1700" dirty="0"/>
          </a:p>
          <a:p>
            <a:pPr indent="0" marL="0">
              <a:lnSpc>
                <a:spcPts val="2500"/>
              </a:lnSpc>
              <a:buNone/>
            </a:pPr>
            <a:r>
              <a:rPr lang="en-US" sz="1700" dirty="0">
                <a:solidFill>
                  <a:srgbClr val="4F6275"/>
                </a:solidFill>
                <a:latin typeface="Calibri" pitchFamily="34" charset="0"/>
                <a:ea typeface="Calibri" pitchFamily="34" charset="-122"/>
                <a:cs typeface="Calibri" pitchFamily="34" charset="-120"/>
              </a:rPr>
              <a:t>The parent confirms each state from </a:t>
            </a:r>
            <a:pPr indent="0" marL="0">
              <a:lnSpc>
                <a:spcPts val="2500"/>
              </a:lnSpc>
              <a:buNone/>
            </a:pPr>
            <a:r>
              <a:rPr lang="en-US" sz="1700" b="1" dirty="0">
                <a:solidFill>
                  <a:srgbClr val="0B1F3A"/>
                </a:solidFill>
                <a:latin typeface="Courier New" pitchFamily="34" charset="0"/>
                <a:ea typeface="Courier New" pitchFamily="34" charset="-122"/>
                <a:cs typeface="Courier New" pitchFamily="34" charset="-120"/>
              </a:rPr>
              <a:t>/proc/[pid]/status</a:t>
            </a:r>
            <a:pPr indent="0" marL="0">
              <a:lnSpc>
                <a:spcPts val="2500"/>
              </a:lnSpc>
              <a:buNone/>
            </a:pPr>
            <a:r>
              <a:rPr lang="en-US" sz="1700" dirty="0">
                <a:solidFill>
                  <a:srgbClr val="4F6275"/>
                </a:solidFill>
                <a:latin typeface="Calibri" pitchFamily="34" charset="0"/>
                <a:ea typeface="Calibri" pitchFamily="34" charset="-122"/>
                <a:cs typeface="Calibri" pitchFamily="34" charset="-120"/>
              </a:rPr>
              <a:t> and </a:t>
            </a:r>
            <a:pPr indent="0" marL="0">
              <a:lnSpc>
                <a:spcPts val="2500"/>
              </a:lnSpc>
              <a:buNone/>
            </a:pPr>
            <a:r>
              <a:rPr lang="en-US" sz="1700" b="1" dirty="0">
                <a:solidFill>
                  <a:srgbClr val="0B1F3A"/>
                </a:solidFill>
                <a:latin typeface="Calibri" pitchFamily="34" charset="0"/>
                <a:ea typeface="Calibri" pitchFamily="34" charset="-122"/>
                <a:cs typeface="Calibri" pitchFamily="34" charset="-120"/>
              </a:rPr>
              <a:t>reaps every finished child, so no zombie process is left behind</a:t>
            </a:r>
            <a:pPr indent="0" marL="0">
              <a:lnSpc>
                <a:spcPts val="2500"/>
              </a:lnSpc>
              <a:buNone/>
            </a:pPr>
            <a:r>
              <a:rPr lang="en-US" sz="1700" dirty="0">
                <a:solidFill>
                  <a:srgbClr val="4F6275"/>
                </a:solidFill>
                <a:latin typeface="Calibri" pitchFamily="34" charset="0"/>
                <a:ea typeface="Calibri" pitchFamily="34" charset="-122"/>
                <a:cs typeface="Calibri" pitchFamily="34" charset="-120"/>
              </a:rPr>
              <a:t>.</a:t>
            </a:r>
            <a:endParaRPr lang="en-US" sz="1700" dirty="0"/>
          </a:p>
        </p:txBody>
      </p:sp>
      <p:sp>
        <p:nvSpPr>
          <p:cNvPr id="5" name="Shape 3"/>
          <p:cNvSpPr/>
          <p:nvPr/>
        </p:nvSpPr>
        <p:spPr>
          <a:xfrm>
            <a:off x="7680960" y="1234440"/>
            <a:ext cx="3959352" cy="914400"/>
          </a:xfrm>
          <a:prstGeom prst="roundRect">
            <a:avLst>
              <a:gd name="adj" fmla="val 8000"/>
            </a:avLst>
          </a:prstGeom>
          <a:solidFill>
            <a:srgbClr val="E6F4F1"/>
          </a:solidFill>
          <a:ln w="12700">
            <a:solidFill>
              <a:srgbClr val="C7E4DD"/>
            </a:solidFill>
            <a:prstDash val="solid"/>
          </a:ln>
        </p:spPr>
      </p:sp>
      <p:sp>
        <p:nvSpPr>
          <p:cNvPr id="6" name="Text 4"/>
          <p:cNvSpPr txBox="1"/>
          <p:nvPr/>
        </p:nvSpPr>
        <p:spPr>
          <a:xfrm>
            <a:off x="7909560" y="1353312"/>
            <a:ext cx="3566160" cy="36576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1 parent + 3 children</a:t>
            </a:r>
            <a:endParaRPr lang="en-US" sz="1900" dirty="0"/>
          </a:p>
        </p:txBody>
      </p:sp>
      <p:sp>
        <p:nvSpPr>
          <p:cNvPr id="7" name="Text 5"/>
          <p:cNvSpPr txBox="1"/>
          <p:nvPr/>
        </p:nvSpPr>
        <p:spPr>
          <a:xfrm>
            <a:off x="7909560" y="1709928"/>
            <a:ext cx="3566160" cy="320040"/>
          </a:xfrm>
          <a:prstGeom prst="rect">
            <a:avLst/>
          </a:prstGeom>
          <a:noFill/>
          <a:ln/>
        </p:spPr>
        <p:txBody>
          <a:bodyPr wrap="square" lIns="0" tIns="0" rIns="0" bIns="0" rtlCol="0" anchor="ctr"/>
          <a:lstStyle/>
          <a:p>
            <a:pPr indent="0" marL="0">
              <a:buNone/>
            </a:pPr>
            <a:r>
              <a:rPr lang="en-US" sz="1400" dirty="0">
                <a:solidFill>
                  <a:srgbClr val="4F6275"/>
                </a:solidFill>
                <a:latin typeface="Calibri" pitchFamily="34" charset="0"/>
                <a:ea typeface="Calibri" pitchFamily="34" charset="-122"/>
                <a:cs typeface="Calibri" pitchFamily="34" charset="-120"/>
              </a:rPr>
              <a:t>One controller, three workers</a:t>
            </a:r>
            <a:endParaRPr lang="en-US" sz="1400" dirty="0"/>
          </a:p>
        </p:txBody>
      </p:sp>
      <p:sp>
        <p:nvSpPr>
          <p:cNvPr id="8" name="Shape 6"/>
          <p:cNvSpPr/>
          <p:nvPr/>
        </p:nvSpPr>
        <p:spPr>
          <a:xfrm>
            <a:off x="7680960" y="2331720"/>
            <a:ext cx="3959352" cy="914400"/>
          </a:xfrm>
          <a:prstGeom prst="roundRect">
            <a:avLst>
              <a:gd name="adj" fmla="val 8000"/>
            </a:avLst>
          </a:prstGeom>
          <a:solidFill>
            <a:srgbClr val="E6F4F1"/>
          </a:solidFill>
          <a:ln w="12700">
            <a:solidFill>
              <a:srgbClr val="C7E4DD"/>
            </a:solidFill>
            <a:prstDash val="solid"/>
          </a:ln>
        </p:spPr>
      </p:sp>
      <p:sp>
        <p:nvSpPr>
          <p:cNvPr id="9" name="Text 7"/>
          <p:cNvSpPr txBox="1"/>
          <p:nvPr/>
        </p:nvSpPr>
        <p:spPr>
          <a:xfrm>
            <a:off x="7909560" y="2450592"/>
            <a:ext cx="3566160" cy="36576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6 POSIX signals</a:t>
            </a:r>
            <a:endParaRPr lang="en-US" sz="1900" dirty="0"/>
          </a:p>
        </p:txBody>
      </p:sp>
      <p:sp>
        <p:nvSpPr>
          <p:cNvPr id="10" name="Text 8"/>
          <p:cNvSpPr txBox="1"/>
          <p:nvPr/>
        </p:nvSpPr>
        <p:spPr>
          <a:xfrm>
            <a:off x="7909560" y="2807208"/>
            <a:ext cx="3566160" cy="320040"/>
          </a:xfrm>
          <a:prstGeom prst="rect">
            <a:avLst/>
          </a:prstGeom>
          <a:noFill/>
          <a:ln/>
        </p:spPr>
        <p:txBody>
          <a:bodyPr wrap="square" lIns="0" tIns="0" rIns="0" bIns="0" rtlCol="0" anchor="ctr"/>
          <a:lstStyle/>
          <a:p>
            <a:pPr indent="0" marL="0">
              <a:buNone/>
            </a:pPr>
            <a:r>
              <a:rPr lang="en-US" sz="1400" dirty="0">
                <a:solidFill>
                  <a:srgbClr val="4F6275"/>
                </a:solidFill>
                <a:latin typeface="Calibri" pitchFamily="34" charset="0"/>
                <a:ea typeface="Calibri" pitchFamily="34" charset="-122"/>
                <a:cs typeface="Calibri" pitchFamily="34" charset="-120"/>
              </a:rPr>
              <a:t>Pause, resume, status, work, stop</a:t>
            </a:r>
            <a:endParaRPr lang="en-US" sz="1400" dirty="0"/>
          </a:p>
        </p:txBody>
      </p:sp>
      <p:sp>
        <p:nvSpPr>
          <p:cNvPr id="11" name="Shape 9"/>
          <p:cNvSpPr/>
          <p:nvPr/>
        </p:nvSpPr>
        <p:spPr>
          <a:xfrm>
            <a:off x="7680960" y="3429000"/>
            <a:ext cx="3959352" cy="914400"/>
          </a:xfrm>
          <a:prstGeom prst="roundRect">
            <a:avLst>
              <a:gd name="adj" fmla="val 8000"/>
            </a:avLst>
          </a:prstGeom>
          <a:solidFill>
            <a:srgbClr val="E6F4F1"/>
          </a:solidFill>
          <a:ln w="12700">
            <a:solidFill>
              <a:srgbClr val="C7E4DD"/>
            </a:solidFill>
            <a:prstDash val="solid"/>
          </a:ln>
        </p:spPr>
      </p:sp>
      <p:sp>
        <p:nvSpPr>
          <p:cNvPr id="12" name="Text 10"/>
          <p:cNvSpPr txBox="1"/>
          <p:nvPr/>
        </p:nvSpPr>
        <p:spPr>
          <a:xfrm>
            <a:off x="7909560" y="3547872"/>
            <a:ext cx="3566160" cy="36576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Pipe + FIFO</a:t>
            </a:r>
            <a:endParaRPr lang="en-US" sz="1900" dirty="0"/>
          </a:p>
        </p:txBody>
      </p:sp>
      <p:sp>
        <p:nvSpPr>
          <p:cNvPr id="13" name="Text 11"/>
          <p:cNvSpPr txBox="1"/>
          <p:nvPr/>
        </p:nvSpPr>
        <p:spPr>
          <a:xfrm>
            <a:off x="7909560" y="3904488"/>
            <a:ext cx="3566160" cy="320040"/>
          </a:xfrm>
          <a:prstGeom prst="rect">
            <a:avLst/>
          </a:prstGeom>
          <a:noFill/>
          <a:ln/>
        </p:spPr>
        <p:txBody>
          <a:bodyPr wrap="square" lIns="0" tIns="0" rIns="0" bIns="0" rtlCol="0" anchor="ctr"/>
          <a:lstStyle/>
          <a:p>
            <a:pPr indent="0" marL="0">
              <a:buNone/>
            </a:pPr>
            <a:r>
              <a:rPr lang="en-US" sz="1400" dirty="0">
                <a:solidFill>
                  <a:srgbClr val="4F6275"/>
                </a:solidFill>
                <a:latin typeface="Calibri" pitchFamily="34" charset="0"/>
                <a:ea typeface="Calibri" pitchFamily="34" charset="-122"/>
                <a:cs typeface="Calibri" pitchFamily="34" charset="-120"/>
              </a:rPr>
              <a:t>Events in, commands out</a:t>
            </a:r>
            <a:endParaRPr lang="en-US" sz="1400" dirty="0"/>
          </a:p>
        </p:txBody>
      </p:sp>
      <p:sp>
        <p:nvSpPr>
          <p:cNvPr id="14" name="Shape 12"/>
          <p:cNvSpPr/>
          <p:nvPr/>
        </p:nvSpPr>
        <p:spPr>
          <a:xfrm>
            <a:off x="7680960" y="4526280"/>
            <a:ext cx="3959352" cy="914400"/>
          </a:xfrm>
          <a:prstGeom prst="roundRect">
            <a:avLst>
              <a:gd name="adj" fmla="val 8000"/>
            </a:avLst>
          </a:prstGeom>
          <a:solidFill>
            <a:srgbClr val="E6F4F1"/>
          </a:solidFill>
          <a:ln w="12700">
            <a:solidFill>
              <a:srgbClr val="C7E4DD"/>
            </a:solidFill>
            <a:prstDash val="solid"/>
          </a:ln>
        </p:spPr>
      </p:sp>
      <p:sp>
        <p:nvSpPr>
          <p:cNvPr id="15" name="Text 13"/>
          <p:cNvSpPr txBox="1"/>
          <p:nvPr/>
        </p:nvSpPr>
        <p:spPr>
          <a:xfrm>
            <a:off x="7909560" y="4645152"/>
            <a:ext cx="3566160" cy="36576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Zero zombies</a:t>
            </a:r>
            <a:endParaRPr lang="en-US" sz="1900" dirty="0"/>
          </a:p>
        </p:txBody>
      </p:sp>
      <p:sp>
        <p:nvSpPr>
          <p:cNvPr id="16" name="Text 14"/>
          <p:cNvSpPr txBox="1"/>
          <p:nvPr/>
        </p:nvSpPr>
        <p:spPr>
          <a:xfrm>
            <a:off x="7909560" y="5001768"/>
            <a:ext cx="3566160" cy="320040"/>
          </a:xfrm>
          <a:prstGeom prst="rect">
            <a:avLst/>
          </a:prstGeom>
          <a:noFill/>
          <a:ln/>
        </p:spPr>
        <p:txBody>
          <a:bodyPr wrap="square" lIns="0" tIns="0" rIns="0" bIns="0" rtlCol="0" anchor="ctr"/>
          <a:lstStyle/>
          <a:p>
            <a:pPr indent="0" marL="0">
              <a:buNone/>
            </a:pPr>
            <a:r>
              <a:rPr lang="en-US" sz="1400" dirty="0">
                <a:solidFill>
                  <a:srgbClr val="4F6275"/>
                </a:solidFill>
                <a:latin typeface="Calibri" pitchFamily="34" charset="0"/>
                <a:ea typeface="Calibri" pitchFamily="34" charset="-122"/>
                <a:cs typeface="Calibri" pitchFamily="34" charset="-120"/>
              </a:rPr>
              <a:t>Every child is reaped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200" b="1" dirty="0">
                <a:solidFill>
                  <a:srgbClr val="0B1F3A"/>
                </a:solidFill>
                <a:latin typeface="Calibri" pitchFamily="34" charset="0"/>
                <a:ea typeface="Calibri" pitchFamily="34" charset="-122"/>
                <a:cs typeface="Calibri" pitchFamily="34" charset="-120"/>
              </a:rPr>
              <a:t>Problem Statement and Motivation</a:t>
            </a:r>
            <a:endParaRPr lang="en-US" sz="3200" dirty="0"/>
          </a:p>
        </p:txBody>
      </p:sp>
      <p:sp>
        <p:nvSpPr>
          <p:cNvPr id="3" name="Shape 1"/>
          <p:cNvSpPr/>
          <p:nvPr/>
        </p:nvSpPr>
        <p:spPr>
          <a:xfrm>
            <a:off x="548640" y="1234440"/>
            <a:ext cx="5486400" cy="4553712"/>
          </a:xfrm>
          <a:prstGeom prst="roundRect">
            <a:avLst>
              <a:gd name="adj" fmla="val 1606"/>
            </a:avLst>
          </a:prstGeom>
          <a:solidFill>
            <a:srgbClr val="FFFFFF"/>
          </a:solidFill>
          <a:ln w="12700">
            <a:solidFill>
              <a:srgbClr val="D8E1E8"/>
            </a:solidFill>
            <a:prstDash val="solid"/>
          </a:ln>
        </p:spPr>
      </p:sp>
      <p:sp>
        <p:nvSpPr>
          <p:cNvPr id="4" name="Shape 2"/>
          <p:cNvSpPr/>
          <p:nvPr/>
        </p:nvSpPr>
        <p:spPr>
          <a:xfrm>
            <a:off x="822960" y="1481328"/>
            <a:ext cx="2377440" cy="411480"/>
          </a:xfrm>
          <a:prstGeom prst="roundRect">
            <a:avLst>
              <a:gd name="adj" fmla="val 44444"/>
            </a:avLst>
          </a:prstGeom>
          <a:solidFill>
            <a:srgbClr val="0B1F3A"/>
          </a:solidFill>
          <a:ln w="12700">
            <a:solidFill>
              <a:srgbClr val="0B1F3A"/>
            </a:solidFill>
            <a:prstDash val="solid"/>
          </a:ln>
        </p:spPr>
      </p:sp>
      <p:sp>
        <p:nvSpPr>
          <p:cNvPr id="5" name="Text 3"/>
          <p:cNvSpPr txBox="1"/>
          <p:nvPr/>
        </p:nvSpPr>
        <p:spPr>
          <a:xfrm>
            <a:off x="822960" y="1481328"/>
            <a:ext cx="2377440" cy="41148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THE PROBLEM</a:t>
            </a:r>
            <a:endParaRPr lang="en-US" sz="1400" dirty="0"/>
          </a:p>
        </p:txBody>
      </p:sp>
      <p:sp>
        <p:nvSpPr>
          <p:cNvPr id="6" name="Shape 4"/>
          <p:cNvSpPr/>
          <p:nvPr/>
        </p:nvSpPr>
        <p:spPr>
          <a:xfrm>
            <a:off x="841248" y="2203704"/>
            <a:ext cx="146304" cy="146304"/>
          </a:xfrm>
          <a:prstGeom prst="ellipse">
            <a:avLst/>
          </a:prstGeom>
          <a:solidFill>
            <a:srgbClr val="00A896"/>
          </a:solidFill>
          <a:ln w="12700">
            <a:solidFill>
              <a:srgbClr val="00A896"/>
            </a:solidFill>
            <a:prstDash val="solid"/>
          </a:ln>
        </p:spPr>
      </p:sp>
      <p:sp>
        <p:nvSpPr>
          <p:cNvPr id="7" name="Text 5"/>
          <p:cNvSpPr txBox="1"/>
          <p:nvPr/>
        </p:nvSpPr>
        <p:spPr>
          <a:xfrm>
            <a:off x="1143000" y="2121408"/>
            <a:ext cx="4663440" cy="822960"/>
          </a:xfrm>
          <a:prstGeom prst="rect">
            <a:avLst/>
          </a:prstGeom>
          <a:noFill/>
          <a:ln/>
        </p:spPr>
        <p:txBody>
          <a:bodyPr wrap="square" lIns="0" tIns="0" rIns="0" bIns="0" rtlCol="0" anchor="t"/>
          <a:lstStyle/>
          <a:p>
            <a:pPr indent="0" marL="0">
              <a:lnSpc>
                <a:spcPts val="2100"/>
              </a:lnSpc>
              <a:buNone/>
            </a:pPr>
            <a:r>
              <a:rPr lang="en-US" sz="1900" b="1" dirty="0">
                <a:solidFill>
                  <a:srgbClr val="0B1F3A"/>
                </a:solidFill>
                <a:latin typeface="Calibri" pitchFamily="34" charset="0"/>
                <a:ea typeface="Calibri" pitchFamily="34" charset="-122"/>
                <a:cs typeface="Calibri" pitchFamily="34" charset="-120"/>
              </a:rPr>
              <a:t>No direct control
</a:t>
            </a:r>
            <a:pPr indent="0" marL="0">
              <a:lnSpc>
                <a:spcPts val="2100"/>
              </a:lnSpc>
              <a:buNone/>
            </a:pPr>
            <a:r>
              <a:rPr lang="en-US" sz="1550" dirty="0">
                <a:solidFill>
                  <a:srgbClr val="4F6275"/>
                </a:solidFill>
                <a:latin typeface="Calibri" pitchFamily="34" charset="0"/>
                <a:ea typeface="Calibri" pitchFamily="34" charset="-122"/>
                <a:cs typeface="Calibri" pitchFamily="34" charset="-120"/>
              </a:rPr>
              <a:t>Once children are running, the program cannot pause, resume or stop them on demand.</a:t>
            </a:r>
            <a:endParaRPr lang="en-US" sz="1900" dirty="0"/>
          </a:p>
        </p:txBody>
      </p:sp>
      <p:sp>
        <p:nvSpPr>
          <p:cNvPr id="8" name="Shape 6"/>
          <p:cNvSpPr/>
          <p:nvPr/>
        </p:nvSpPr>
        <p:spPr>
          <a:xfrm>
            <a:off x="841248" y="3118104"/>
            <a:ext cx="146304" cy="146304"/>
          </a:xfrm>
          <a:prstGeom prst="ellipse">
            <a:avLst/>
          </a:prstGeom>
          <a:solidFill>
            <a:srgbClr val="00A896"/>
          </a:solidFill>
          <a:ln w="12700">
            <a:solidFill>
              <a:srgbClr val="00A896"/>
            </a:solidFill>
            <a:prstDash val="solid"/>
          </a:ln>
        </p:spPr>
      </p:sp>
      <p:sp>
        <p:nvSpPr>
          <p:cNvPr id="9" name="Text 7"/>
          <p:cNvSpPr txBox="1"/>
          <p:nvPr/>
        </p:nvSpPr>
        <p:spPr>
          <a:xfrm>
            <a:off x="1143000" y="3035808"/>
            <a:ext cx="4663440" cy="822960"/>
          </a:xfrm>
          <a:prstGeom prst="rect">
            <a:avLst/>
          </a:prstGeom>
          <a:noFill/>
          <a:ln/>
        </p:spPr>
        <p:txBody>
          <a:bodyPr wrap="square" lIns="0" tIns="0" rIns="0" bIns="0" rtlCol="0" anchor="t"/>
          <a:lstStyle/>
          <a:p>
            <a:pPr indent="0" marL="0">
              <a:lnSpc>
                <a:spcPts val="2100"/>
              </a:lnSpc>
              <a:buNone/>
            </a:pPr>
            <a:r>
              <a:rPr lang="en-US" sz="1900" b="1" dirty="0">
                <a:solidFill>
                  <a:srgbClr val="0B1F3A"/>
                </a:solidFill>
                <a:latin typeface="Calibri" pitchFamily="34" charset="0"/>
                <a:ea typeface="Calibri" pitchFamily="34" charset="-122"/>
                <a:cs typeface="Calibri" pitchFamily="34" charset="-120"/>
              </a:rPr>
              <a:t>No state visibility
</a:t>
            </a:r>
            <a:pPr indent="0" marL="0">
              <a:lnSpc>
                <a:spcPts val="2100"/>
              </a:lnSpc>
              <a:buNone/>
            </a:pPr>
            <a:r>
              <a:rPr lang="en-US" sz="1550" dirty="0">
                <a:solidFill>
                  <a:srgbClr val="4F6275"/>
                </a:solidFill>
                <a:latin typeface="Calibri" pitchFamily="34" charset="0"/>
                <a:ea typeface="Calibri" pitchFamily="34" charset="-122"/>
                <a:cs typeface="Calibri" pitchFamily="34" charset="-120"/>
              </a:rPr>
              <a:t>The parent cannot tell whether a child is running, sleeping or stopped.</a:t>
            </a:r>
            <a:endParaRPr lang="en-US" sz="1900" dirty="0"/>
          </a:p>
        </p:txBody>
      </p:sp>
      <p:sp>
        <p:nvSpPr>
          <p:cNvPr id="10" name="Shape 8"/>
          <p:cNvSpPr/>
          <p:nvPr/>
        </p:nvSpPr>
        <p:spPr>
          <a:xfrm>
            <a:off x="841248" y="4032504"/>
            <a:ext cx="146304" cy="146304"/>
          </a:xfrm>
          <a:prstGeom prst="ellipse">
            <a:avLst/>
          </a:prstGeom>
          <a:solidFill>
            <a:srgbClr val="00A896"/>
          </a:solidFill>
          <a:ln w="12700">
            <a:solidFill>
              <a:srgbClr val="00A896"/>
            </a:solidFill>
            <a:prstDash val="solid"/>
          </a:ln>
        </p:spPr>
      </p:sp>
      <p:sp>
        <p:nvSpPr>
          <p:cNvPr id="11" name="Text 9"/>
          <p:cNvSpPr txBox="1"/>
          <p:nvPr/>
        </p:nvSpPr>
        <p:spPr>
          <a:xfrm>
            <a:off x="1143000" y="3950208"/>
            <a:ext cx="4663440" cy="822960"/>
          </a:xfrm>
          <a:prstGeom prst="rect">
            <a:avLst/>
          </a:prstGeom>
          <a:noFill/>
          <a:ln/>
        </p:spPr>
        <p:txBody>
          <a:bodyPr wrap="square" lIns="0" tIns="0" rIns="0" bIns="0" rtlCol="0" anchor="t"/>
          <a:lstStyle/>
          <a:p>
            <a:pPr indent="0" marL="0">
              <a:lnSpc>
                <a:spcPts val="2100"/>
              </a:lnSpc>
              <a:buNone/>
            </a:pPr>
            <a:r>
              <a:rPr lang="en-US" sz="1900" b="1" dirty="0">
                <a:solidFill>
                  <a:srgbClr val="0B1F3A"/>
                </a:solidFill>
                <a:latin typeface="Calibri" pitchFamily="34" charset="0"/>
                <a:ea typeface="Calibri" pitchFamily="34" charset="-122"/>
                <a:cs typeface="Calibri" pitchFamily="34" charset="-120"/>
              </a:rPr>
              <a:t>Unsafe termination
</a:t>
            </a:r>
            <a:pPr indent="0" marL="0">
              <a:lnSpc>
                <a:spcPts val="2100"/>
              </a:lnSpc>
              <a:buNone/>
            </a:pPr>
            <a:r>
              <a:rPr lang="en-US" sz="1550" dirty="0">
                <a:solidFill>
                  <a:srgbClr val="4F6275"/>
                </a:solidFill>
                <a:latin typeface="Calibri" pitchFamily="34" charset="0"/>
                <a:ea typeface="Calibri" pitchFamily="34" charset="-122"/>
                <a:cs typeface="Calibri" pitchFamily="34" charset="-120"/>
              </a:rPr>
              <a:t>Killing a child abruptly gives it no chance to finish its work cleanly.</a:t>
            </a:r>
            <a:endParaRPr lang="en-US" sz="1900" dirty="0"/>
          </a:p>
        </p:txBody>
      </p:sp>
      <p:sp>
        <p:nvSpPr>
          <p:cNvPr id="12" name="Shape 10"/>
          <p:cNvSpPr/>
          <p:nvPr/>
        </p:nvSpPr>
        <p:spPr>
          <a:xfrm>
            <a:off x="841248" y="4946904"/>
            <a:ext cx="146304" cy="146304"/>
          </a:xfrm>
          <a:prstGeom prst="ellipse">
            <a:avLst/>
          </a:prstGeom>
          <a:solidFill>
            <a:srgbClr val="00A896"/>
          </a:solidFill>
          <a:ln w="12700">
            <a:solidFill>
              <a:srgbClr val="00A896"/>
            </a:solidFill>
            <a:prstDash val="solid"/>
          </a:ln>
        </p:spPr>
      </p:sp>
      <p:sp>
        <p:nvSpPr>
          <p:cNvPr id="13" name="Text 11"/>
          <p:cNvSpPr txBox="1"/>
          <p:nvPr/>
        </p:nvSpPr>
        <p:spPr>
          <a:xfrm>
            <a:off x="1143000" y="4864608"/>
            <a:ext cx="4663440" cy="822960"/>
          </a:xfrm>
          <a:prstGeom prst="rect">
            <a:avLst/>
          </a:prstGeom>
          <a:noFill/>
          <a:ln/>
        </p:spPr>
        <p:txBody>
          <a:bodyPr wrap="square" lIns="0" tIns="0" rIns="0" bIns="0" rtlCol="0" anchor="t"/>
          <a:lstStyle/>
          <a:p>
            <a:pPr indent="0" marL="0">
              <a:lnSpc>
                <a:spcPts val="2100"/>
              </a:lnSpc>
              <a:buNone/>
            </a:pPr>
            <a:r>
              <a:rPr lang="en-US" sz="1900" b="1" dirty="0">
                <a:solidFill>
                  <a:srgbClr val="0B1F3A"/>
                </a:solidFill>
                <a:latin typeface="Calibri" pitchFamily="34" charset="0"/>
                <a:ea typeface="Calibri" pitchFamily="34" charset="-122"/>
                <a:cs typeface="Calibri" pitchFamily="34" charset="-120"/>
              </a:rPr>
              <a:t>Zombie and orphan processes
</a:t>
            </a:r>
            <a:pPr indent="0" marL="0">
              <a:lnSpc>
                <a:spcPts val="2100"/>
              </a:lnSpc>
              <a:buNone/>
            </a:pPr>
            <a:r>
              <a:rPr lang="en-US" sz="1550" dirty="0">
                <a:solidFill>
                  <a:srgbClr val="4F6275"/>
                </a:solidFill>
                <a:latin typeface="Calibri" pitchFamily="34" charset="0"/>
                <a:ea typeface="Calibri" pitchFamily="34" charset="-122"/>
                <a:cs typeface="Calibri" pitchFamily="34" charset="-120"/>
              </a:rPr>
              <a:t>Children that exit without being reaped stay in the kernel process table.</a:t>
            </a:r>
            <a:endParaRPr lang="en-US" sz="1900" dirty="0"/>
          </a:p>
        </p:txBody>
      </p:sp>
      <p:sp>
        <p:nvSpPr>
          <p:cNvPr id="14" name="Shape 12"/>
          <p:cNvSpPr/>
          <p:nvPr/>
        </p:nvSpPr>
        <p:spPr>
          <a:xfrm>
            <a:off x="6309360" y="1234440"/>
            <a:ext cx="5330952" cy="4553712"/>
          </a:xfrm>
          <a:prstGeom prst="roundRect">
            <a:avLst>
              <a:gd name="adj" fmla="val 1606"/>
            </a:avLst>
          </a:prstGeom>
          <a:solidFill>
            <a:srgbClr val="E6F4F1"/>
          </a:solidFill>
          <a:ln w="12700">
            <a:solidFill>
              <a:srgbClr val="C7E4DD"/>
            </a:solidFill>
            <a:prstDash val="solid"/>
          </a:ln>
        </p:spPr>
      </p:sp>
      <p:sp>
        <p:nvSpPr>
          <p:cNvPr id="15" name="Shape 13"/>
          <p:cNvSpPr/>
          <p:nvPr/>
        </p:nvSpPr>
        <p:spPr>
          <a:xfrm>
            <a:off x="6583680" y="1481328"/>
            <a:ext cx="2377440" cy="411480"/>
          </a:xfrm>
          <a:prstGeom prst="roundRect">
            <a:avLst>
              <a:gd name="adj" fmla="val 44444"/>
            </a:avLst>
          </a:prstGeom>
          <a:solidFill>
            <a:srgbClr val="00786A"/>
          </a:solidFill>
          <a:ln w="12700">
            <a:solidFill>
              <a:srgbClr val="00786A"/>
            </a:solidFill>
            <a:prstDash val="solid"/>
          </a:ln>
        </p:spPr>
      </p:sp>
      <p:sp>
        <p:nvSpPr>
          <p:cNvPr id="16" name="Text 14"/>
          <p:cNvSpPr txBox="1"/>
          <p:nvPr/>
        </p:nvSpPr>
        <p:spPr>
          <a:xfrm>
            <a:off x="6583680" y="1481328"/>
            <a:ext cx="2377440" cy="41148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MOTIVATION</a:t>
            </a:r>
            <a:endParaRPr lang="en-US" sz="1400" dirty="0"/>
          </a:p>
        </p:txBody>
      </p:sp>
      <p:sp>
        <p:nvSpPr>
          <p:cNvPr id="17" name="Shape 15"/>
          <p:cNvSpPr/>
          <p:nvPr/>
        </p:nvSpPr>
        <p:spPr>
          <a:xfrm>
            <a:off x="6601968" y="2203704"/>
            <a:ext cx="146304" cy="146304"/>
          </a:xfrm>
          <a:prstGeom prst="ellipse">
            <a:avLst/>
          </a:prstGeom>
          <a:solidFill>
            <a:srgbClr val="00786A"/>
          </a:solidFill>
          <a:ln w="12700">
            <a:solidFill>
              <a:srgbClr val="00786A"/>
            </a:solidFill>
            <a:prstDash val="solid"/>
          </a:ln>
        </p:spPr>
      </p:sp>
      <p:sp>
        <p:nvSpPr>
          <p:cNvPr id="18" name="Text 16"/>
          <p:cNvSpPr txBox="1"/>
          <p:nvPr/>
        </p:nvSpPr>
        <p:spPr>
          <a:xfrm>
            <a:off x="6903720" y="2121408"/>
            <a:ext cx="4526280" cy="822960"/>
          </a:xfrm>
          <a:prstGeom prst="rect">
            <a:avLst/>
          </a:prstGeom>
          <a:noFill/>
          <a:ln/>
        </p:spPr>
        <p:txBody>
          <a:bodyPr wrap="square" lIns="0" tIns="0" rIns="0" bIns="0" rtlCol="0" anchor="t"/>
          <a:lstStyle/>
          <a:p>
            <a:pPr indent="0" marL="0">
              <a:lnSpc>
                <a:spcPts val="2100"/>
              </a:lnSpc>
              <a:buNone/>
            </a:pPr>
            <a:r>
              <a:rPr lang="en-US" sz="1900" b="1" dirty="0">
                <a:solidFill>
                  <a:srgbClr val="0B1F3A"/>
                </a:solidFill>
                <a:latin typeface="Calibri" pitchFamily="34" charset="0"/>
                <a:ea typeface="Calibri" pitchFamily="34" charset="-122"/>
                <a:cs typeface="Calibri" pitchFamily="34" charset="-120"/>
              </a:rPr>
              <a:t>Signals are the standard way
</a:t>
            </a:r>
            <a:pPr indent="0" marL="0">
              <a:lnSpc>
                <a:spcPts val="2100"/>
              </a:lnSpc>
              <a:buNone/>
            </a:pPr>
            <a:r>
              <a:rPr lang="en-US" sz="1550" dirty="0">
                <a:solidFill>
                  <a:srgbClr val="4F6275"/>
                </a:solidFill>
                <a:latin typeface="Calibri" pitchFamily="34" charset="0"/>
                <a:ea typeface="Calibri" pitchFamily="34" charset="-122"/>
                <a:cs typeface="Calibri" pitchFamily="34" charset="-120"/>
              </a:rPr>
              <a:t>Linux itself controls running programs with signals — Ctrl+C is one.</a:t>
            </a:r>
            <a:endParaRPr lang="en-US" sz="1900" dirty="0"/>
          </a:p>
        </p:txBody>
      </p:sp>
      <p:sp>
        <p:nvSpPr>
          <p:cNvPr id="19" name="Shape 17"/>
          <p:cNvSpPr/>
          <p:nvPr/>
        </p:nvSpPr>
        <p:spPr>
          <a:xfrm>
            <a:off x="6601968" y="3118104"/>
            <a:ext cx="146304" cy="146304"/>
          </a:xfrm>
          <a:prstGeom prst="ellipse">
            <a:avLst/>
          </a:prstGeom>
          <a:solidFill>
            <a:srgbClr val="00786A"/>
          </a:solidFill>
          <a:ln w="12700">
            <a:solidFill>
              <a:srgbClr val="00786A"/>
            </a:solidFill>
            <a:prstDash val="solid"/>
          </a:ln>
        </p:spPr>
      </p:sp>
      <p:sp>
        <p:nvSpPr>
          <p:cNvPr id="20" name="Text 18"/>
          <p:cNvSpPr txBox="1"/>
          <p:nvPr/>
        </p:nvSpPr>
        <p:spPr>
          <a:xfrm>
            <a:off x="6903720" y="3035808"/>
            <a:ext cx="4526280" cy="822960"/>
          </a:xfrm>
          <a:prstGeom prst="rect">
            <a:avLst/>
          </a:prstGeom>
          <a:noFill/>
          <a:ln/>
        </p:spPr>
        <p:txBody>
          <a:bodyPr wrap="square" lIns="0" tIns="0" rIns="0" bIns="0" rtlCol="0" anchor="t"/>
          <a:lstStyle/>
          <a:p>
            <a:pPr indent="0" marL="0">
              <a:lnSpc>
                <a:spcPts val="2100"/>
              </a:lnSpc>
              <a:buNone/>
            </a:pPr>
            <a:r>
              <a:rPr lang="en-US" sz="1900" b="1" dirty="0">
                <a:solidFill>
                  <a:srgbClr val="0B1F3A"/>
                </a:solidFill>
                <a:latin typeface="Calibri" pitchFamily="34" charset="0"/>
                <a:ea typeface="Calibri" pitchFamily="34" charset="-122"/>
                <a:cs typeface="Calibri" pitchFamily="34" charset="-120"/>
              </a:rPr>
              <a:t>Real software works like this
</a:t>
            </a:r>
            <a:pPr indent="0" marL="0">
              <a:lnSpc>
                <a:spcPts val="2100"/>
              </a:lnSpc>
              <a:buNone/>
            </a:pPr>
            <a:r>
              <a:rPr lang="en-US" sz="1550" dirty="0">
                <a:solidFill>
                  <a:srgbClr val="4F6275"/>
                </a:solidFill>
                <a:latin typeface="Calibri" pitchFamily="34" charset="0"/>
                <a:ea typeface="Calibri" pitchFamily="34" charset="-122"/>
                <a:cs typeface="Calibri" pitchFamily="34" charset="-120"/>
              </a:rPr>
              <a:t>Shells, web servers and system daemons manage their workers the same way.</a:t>
            </a:r>
            <a:endParaRPr lang="en-US" sz="1900" dirty="0"/>
          </a:p>
        </p:txBody>
      </p:sp>
      <p:sp>
        <p:nvSpPr>
          <p:cNvPr id="21" name="Shape 19"/>
          <p:cNvSpPr/>
          <p:nvPr/>
        </p:nvSpPr>
        <p:spPr>
          <a:xfrm>
            <a:off x="6601968" y="4032504"/>
            <a:ext cx="146304" cy="146304"/>
          </a:xfrm>
          <a:prstGeom prst="ellipse">
            <a:avLst/>
          </a:prstGeom>
          <a:solidFill>
            <a:srgbClr val="00786A"/>
          </a:solidFill>
          <a:ln w="12700">
            <a:solidFill>
              <a:srgbClr val="00786A"/>
            </a:solidFill>
            <a:prstDash val="solid"/>
          </a:ln>
        </p:spPr>
      </p:sp>
      <p:sp>
        <p:nvSpPr>
          <p:cNvPr id="22" name="Text 20"/>
          <p:cNvSpPr txBox="1"/>
          <p:nvPr/>
        </p:nvSpPr>
        <p:spPr>
          <a:xfrm>
            <a:off x="6903720" y="3950208"/>
            <a:ext cx="4526280" cy="822960"/>
          </a:xfrm>
          <a:prstGeom prst="rect">
            <a:avLst/>
          </a:prstGeom>
          <a:noFill/>
          <a:ln/>
        </p:spPr>
        <p:txBody>
          <a:bodyPr wrap="square" lIns="0" tIns="0" rIns="0" bIns="0" rtlCol="0" anchor="t"/>
          <a:lstStyle/>
          <a:p>
            <a:pPr indent="0" marL="0">
              <a:lnSpc>
                <a:spcPts val="2100"/>
              </a:lnSpc>
              <a:buNone/>
            </a:pPr>
            <a:r>
              <a:rPr lang="en-US" sz="1900" b="1" dirty="0">
                <a:solidFill>
                  <a:srgbClr val="0B1F3A"/>
                </a:solidFill>
                <a:latin typeface="Calibri" pitchFamily="34" charset="0"/>
                <a:ea typeface="Calibri" pitchFamily="34" charset="-122"/>
                <a:cs typeface="Calibri" pitchFamily="34" charset="-120"/>
              </a:rPr>
              <a:t>Safe shutdown matters
</a:t>
            </a:r>
            <a:pPr indent="0" marL="0">
              <a:lnSpc>
                <a:spcPts val="2100"/>
              </a:lnSpc>
              <a:buNone/>
            </a:pPr>
            <a:r>
              <a:rPr lang="en-US" sz="1550" dirty="0">
                <a:solidFill>
                  <a:srgbClr val="4F6275"/>
                </a:solidFill>
                <a:latin typeface="Calibri" pitchFamily="34" charset="0"/>
                <a:ea typeface="Calibri" pitchFamily="34" charset="-122"/>
                <a:cs typeface="Calibri" pitchFamily="34" charset="-120"/>
              </a:rPr>
              <a:t>A polite stop request lets a process finish its work before it exits.</a:t>
            </a:r>
            <a:endParaRPr lang="en-US" sz="1900" dirty="0"/>
          </a:p>
        </p:txBody>
      </p:sp>
      <p:sp>
        <p:nvSpPr>
          <p:cNvPr id="23" name="Shape 21"/>
          <p:cNvSpPr/>
          <p:nvPr/>
        </p:nvSpPr>
        <p:spPr>
          <a:xfrm>
            <a:off x="6601968" y="4946904"/>
            <a:ext cx="146304" cy="146304"/>
          </a:xfrm>
          <a:prstGeom prst="ellipse">
            <a:avLst/>
          </a:prstGeom>
          <a:solidFill>
            <a:srgbClr val="00786A"/>
          </a:solidFill>
          <a:ln w="12700">
            <a:solidFill>
              <a:srgbClr val="00786A"/>
            </a:solidFill>
            <a:prstDash val="solid"/>
          </a:ln>
        </p:spPr>
      </p:sp>
      <p:sp>
        <p:nvSpPr>
          <p:cNvPr id="24" name="Text 22"/>
          <p:cNvSpPr txBox="1"/>
          <p:nvPr/>
        </p:nvSpPr>
        <p:spPr>
          <a:xfrm>
            <a:off x="6903720" y="4864608"/>
            <a:ext cx="4526280" cy="822960"/>
          </a:xfrm>
          <a:prstGeom prst="rect">
            <a:avLst/>
          </a:prstGeom>
          <a:noFill/>
          <a:ln/>
        </p:spPr>
        <p:txBody>
          <a:bodyPr wrap="square" lIns="0" tIns="0" rIns="0" bIns="0" rtlCol="0" anchor="t"/>
          <a:lstStyle/>
          <a:p>
            <a:pPr indent="0" marL="0">
              <a:lnSpc>
                <a:spcPts val="2100"/>
              </a:lnSpc>
              <a:buNone/>
            </a:pPr>
            <a:r>
              <a:rPr lang="en-US" sz="1900" b="1" dirty="0">
                <a:solidFill>
                  <a:srgbClr val="0B1F3A"/>
                </a:solidFill>
                <a:latin typeface="Calibri" pitchFamily="34" charset="0"/>
                <a:ea typeface="Calibri" pitchFamily="34" charset="-122"/>
                <a:cs typeface="Calibri" pitchFamily="34" charset="-120"/>
              </a:rPr>
              <a:t>Strong learning value
</a:t>
            </a:r>
            <a:pPr indent="0" marL="0">
              <a:lnSpc>
                <a:spcPts val="2100"/>
              </a:lnSpc>
              <a:buNone/>
            </a:pPr>
            <a:r>
              <a:rPr lang="en-US" sz="1550" dirty="0">
                <a:solidFill>
                  <a:srgbClr val="4F6275"/>
                </a:solidFill>
                <a:latin typeface="Calibri" pitchFamily="34" charset="0"/>
                <a:ea typeface="Calibri" pitchFamily="34" charset="-122"/>
                <a:cs typeface="Calibri" pitchFamily="34" charset="-120"/>
              </a:rPr>
              <a:t>It connects processes, signals, pipes and kernel services in one project.</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200" b="1" dirty="0">
                <a:solidFill>
                  <a:srgbClr val="0B1F3A"/>
                </a:solidFill>
                <a:latin typeface="Calibri" pitchFamily="34" charset="0"/>
                <a:ea typeface="Calibri" pitchFamily="34" charset="-122"/>
                <a:cs typeface="Calibri" pitchFamily="34" charset="-120"/>
              </a:rPr>
              <a:t>Objectives</a:t>
            </a:r>
            <a:endParaRPr lang="en-US" sz="3200" dirty="0"/>
          </a:p>
        </p:txBody>
      </p:sp>
      <p:sp>
        <p:nvSpPr>
          <p:cNvPr id="3" name="Shape 1"/>
          <p:cNvSpPr/>
          <p:nvPr/>
        </p:nvSpPr>
        <p:spPr>
          <a:xfrm>
            <a:off x="548640" y="1280160"/>
            <a:ext cx="11091672" cy="868680"/>
          </a:xfrm>
          <a:prstGeom prst="roundRect">
            <a:avLst>
              <a:gd name="adj" fmla="val 8421"/>
            </a:avLst>
          </a:prstGeom>
          <a:solidFill>
            <a:srgbClr val="F1F5F9"/>
          </a:solidFill>
          <a:ln w="12700">
            <a:solidFill>
              <a:srgbClr val="D8E1E8"/>
            </a:solidFill>
            <a:prstDash val="solid"/>
          </a:ln>
        </p:spPr>
      </p:sp>
      <p:sp>
        <p:nvSpPr>
          <p:cNvPr id="4" name="Shape 2"/>
          <p:cNvSpPr/>
          <p:nvPr/>
        </p:nvSpPr>
        <p:spPr>
          <a:xfrm>
            <a:off x="804672" y="1490472"/>
            <a:ext cx="457200" cy="457200"/>
          </a:xfrm>
          <a:prstGeom prst="ellipse">
            <a:avLst/>
          </a:prstGeom>
          <a:solidFill>
            <a:srgbClr val="00A896"/>
          </a:solidFill>
          <a:ln w="12700">
            <a:solidFill>
              <a:srgbClr val="00A896"/>
            </a:solidFill>
            <a:prstDash val="solid"/>
          </a:ln>
        </p:spPr>
      </p:sp>
      <p:sp>
        <p:nvSpPr>
          <p:cNvPr id="5" name="Text 3"/>
          <p:cNvSpPr txBox="1"/>
          <p:nvPr/>
        </p:nvSpPr>
        <p:spPr>
          <a:xfrm>
            <a:off x="804672" y="1490472"/>
            <a:ext cx="457200" cy="457200"/>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444752" y="1371600"/>
            <a:ext cx="3017520" cy="68580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Create the process family</a:t>
            </a:r>
            <a:endParaRPr lang="en-US" sz="1900" dirty="0"/>
          </a:p>
        </p:txBody>
      </p:sp>
      <p:sp>
        <p:nvSpPr>
          <p:cNvPr id="7" name="Text 5"/>
          <p:cNvSpPr txBox="1"/>
          <p:nvPr/>
        </p:nvSpPr>
        <p:spPr>
          <a:xfrm>
            <a:off x="4553712" y="1371600"/>
            <a:ext cx="6858000" cy="685800"/>
          </a:xfrm>
          <a:prstGeom prst="rect">
            <a:avLst/>
          </a:prstGeom>
          <a:noFill/>
          <a:ln/>
        </p:spPr>
        <p:txBody>
          <a:bodyPr wrap="square" lIns="0" tIns="0" rIns="0" bIns="0" rtlCol="0" anchor="ctr"/>
          <a:lstStyle/>
          <a:p>
            <a:pPr indent="0" marL="0">
              <a:lnSpc>
                <a:spcPts val="2100"/>
              </a:lnSpc>
              <a:buNone/>
            </a:pPr>
            <a:r>
              <a:rPr lang="en-US" sz="1600" dirty="0">
                <a:solidFill>
                  <a:srgbClr val="4F6275"/>
                </a:solidFill>
                <a:latin typeface="Calibri" pitchFamily="34" charset="0"/>
                <a:ea typeface="Calibri" pitchFamily="34" charset="-122"/>
                <a:cs typeface="Calibri" pitchFamily="34" charset="-120"/>
              </a:rPr>
              <a:t>Build a parent controller that creates </a:t>
            </a:r>
            <a:pPr indent="0" marL="0">
              <a:lnSpc>
                <a:spcPts val="2100"/>
              </a:lnSpc>
              <a:buNone/>
            </a:pPr>
            <a:r>
              <a:rPr lang="en-US" sz="1600" b="1" dirty="0">
                <a:solidFill>
                  <a:srgbClr val="0B1F3A"/>
                </a:solidFill>
                <a:latin typeface="Calibri" pitchFamily="34" charset="0"/>
                <a:ea typeface="Calibri" pitchFamily="34" charset="-122"/>
                <a:cs typeface="Calibri" pitchFamily="34" charset="-120"/>
              </a:rPr>
              <a:t>three child worker processes</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 using </a:t>
            </a:r>
            <a:pPr indent="0" marL="0">
              <a:lnSpc>
                <a:spcPts val="2100"/>
              </a:lnSpc>
              <a:buNone/>
            </a:pPr>
            <a:r>
              <a:rPr lang="en-US" sz="1500" b="1" dirty="0">
                <a:solidFill>
                  <a:srgbClr val="0B1F3A"/>
                </a:solidFill>
                <a:latin typeface="Courier New" pitchFamily="34" charset="0"/>
                <a:ea typeface="Courier New" pitchFamily="34" charset="-122"/>
                <a:cs typeface="Courier New" pitchFamily="34" charset="-120"/>
              </a:rPr>
              <a:t>fork()</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 grouped together as one process group.</a:t>
            </a:r>
            <a:endParaRPr lang="en-US" sz="1600" dirty="0"/>
          </a:p>
        </p:txBody>
      </p:sp>
      <p:sp>
        <p:nvSpPr>
          <p:cNvPr id="8" name="Shape 6"/>
          <p:cNvSpPr/>
          <p:nvPr/>
        </p:nvSpPr>
        <p:spPr>
          <a:xfrm>
            <a:off x="548640" y="2240280"/>
            <a:ext cx="11091672" cy="868680"/>
          </a:xfrm>
          <a:prstGeom prst="roundRect">
            <a:avLst>
              <a:gd name="adj" fmla="val 8421"/>
            </a:avLst>
          </a:prstGeom>
          <a:solidFill>
            <a:srgbClr val="FFFFFF"/>
          </a:solidFill>
          <a:ln w="12700">
            <a:solidFill>
              <a:srgbClr val="D8E1E8"/>
            </a:solidFill>
            <a:prstDash val="solid"/>
          </a:ln>
        </p:spPr>
      </p:sp>
      <p:sp>
        <p:nvSpPr>
          <p:cNvPr id="9" name="Shape 7"/>
          <p:cNvSpPr/>
          <p:nvPr/>
        </p:nvSpPr>
        <p:spPr>
          <a:xfrm>
            <a:off x="804672" y="2450592"/>
            <a:ext cx="457200" cy="457200"/>
          </a:xfrm>
          <a:prstGeom prst="ellipse">
            <a:avLst/>
          </a:prstGeom>
          <a:solidFill>
            <a:srgbClr val="00A896"/>
          </a:solidFill>
          <a:ln w="12700">
            <a:solidFill>
              <a:srgbClr val="00A896"/>
            </a:solidFill>
            <a:prstDash val="solid"/>
          </a:ln>
        </p:spPr>
      </p:sp>
      <p:sp>
        <p:nvSpPr>
          <p:cNvPr id="10" name="Text 8"/>
          <p:cNvSpPr txBox="1"/>
          <p:nvPr/>
        </p:nvSpPr>
        <p:spPr>
          <a:xfrm>
            <a:off x="804672" y="2450592"/>
            <a:ext cx="457200" cy="457200"/>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444752" y="2331720"/>
            <a:ext cx="3017520" cy="68580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Control children two ways</a:t>
            </a:r>
            <a:endParaRPr lang="en-US" sz="1900" dirty="0"/>
          </a:p>
        </p:txBody>
      </p:sp>
      <p:sp>
        <p:nvSpPr>
          <p:cNvPr id="12" name="Text 10"/>
          <p:cNvSpPr txBox="1"/>
          <p:nvPr/>
        </p:nvSpPr>
        <p:spPr>
          <a:xfrm>
            <a:off x="4553712" y="2331720"/>
            <a:ext cx="6858000" cy="685800"/>
          </a:xfrm>
          <a:prstGeom prst="rect">
            <a:avLst/>
          </a:prstGeom>
          <a:noFill/>
          <a:ln/>
        </p:spPr>
        <p:txBody>
          <a:bodyPr wrap="square" lIns="0" tIns="0" rIns="0" bIns="0" rtlCol="0" anchor="ctr"/>
          <a:lstStyle/>
          <a:p>
            <a:pPr indent="0" marL="0">
              <a:lnSpc>
                <a:spcPts val="2100"/>
              </a:lnSpc>
              <a:buNone/>
            </a:pPr>
            <a:r>
              <a:rPr lang="en-US" sz="1600" dirty="0">
                <a:solidFill>
                  <a:srgbClr val="4F6275"/>
                </a:solidFill>
                <a:latin typeface="Calibri" pitchFamily="34" charset="0"/>
                <a:ea typeface="Calibri" pitchFamily="34" charset="-122"/>
                <a:cs typeface="Calibri" pitchFamily="34" charset="-120"/>
              </a:rPr>
              <a:t>Send a signal to </a:t>
            </a:r>
            <a:pPr indent="0" marL="0">
              <a:lnSpc>
                <a:spcPts val="2100"/>
              </a:lnSpc>
              <a:buNone/>
            </a:pPr>
            <a:r>
              <a:rPr lang="en-US" sz="1600" b="1" dirty="0">
                <a:solidFill>
                  <a:srgbClr val="0B1F3A"/>
                </a:solidFill>
                <a:latin typeface="Calibri" pitchFamily="34" charset="0"/>
                <a:ea typeface="Calibri" pitchFamily="34" charset="-122"/>
                <a:cs typeface="Calibri" pitchFamily="34" charset="-120"/>
              </a:rPr>
              <a:t>one child by its PID</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 or to </a:t>
            </a:r>
            <a:pPr indent="0" marL="0">
              <a:lnSpc>
                <a:spcPts val="2100"/>
              </a:lnSpc>
              <a:buNone/>
            </a:pPr>
            <a:r>
              <a:rPr lang="en-US" sz="1600" b="1" dirty="0">
                <a:solidFill>
                  <a:srgbClr val="0B1F3A"/>
                </a:solidFill>
                <a:latin typeface="Calibri" pitchFamily="34" charset="0"/>
                <a:ea typeface="Calibri" pitchFamily="34" charset="-122"/>
                <a:cs typeface="Calibri" pitchFamily="34" charset="-120"/>
              </a:rPr>
              <a:t>all three at once</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 using the process group.</a:t>
            </a:r>
            <a:endParaRPr lang="en-US" sz="1600" dirty="0"/>
          </a:p>
        </p:txBody>
      </p:sp>
      <p:sp>
        <p:nvSpPr>
          <p:cNvPr id="13" name="Shape 11"/>
          <p:cNvSpPr/>
          <p:nvPr/>
        </p:nvSpPr>
        <p:spPr>
          <a:xfrm>
            <a:off x="548640" y="3200400"/>
            <a:ext cx="11091672" cy="868680"/>
          </a:xfrm>
          <a:prstGeom prst="roundRect">
            <a:avLst>
              <a:gd name="adj" fmla="val 8421"/>
            </a:avLst>
          </a:prstGeom>
          <a:solidFill>
            <a:srgbClr val="F1F5F9"/>
          </a:solidFill>
          <a:ln w="12700">
            <a:solidFill>
              <a:srgbClr val="D8E1E8"/>
            </a:solidFill>
            <a:prstDash val="solid"/>
          </a:ln>
        </p:spPr>
      </p:sp>
      <p:sp>
        <p:nvSpPr>
          <p:cNvPr id="14" name="Shape 12"/>
          <p:cNvSpPr/>
          <p:nvPr/>
        </p:nvSpPr>
        <p:spPr>
          <a:xfrm>
            <a:off x="804672" y="3410712"/>
            <a:ext cx="457200" cy="457200"/>
          </a:xfrm>
          <a:prstGeom prst="ellipse">
            <a:avLst/>
          </a:prstGeom>
          <a:solidFill>
            <a:srgbClr val="00A896"/>
          </a:solidFill>
          <a:ln w="12700">
            <a:solidFill>
              <a:srgbClr val="00A896"/>
            </a:solidFill>
            <a:prstDash val="solid"/>
          </a:ln>
        </p:spPr>
      </p:sp>
      <p:sp>
        <p:nvSpPr>
          <p:cNvPr id="15" name="Text 13"/>
          <p:cNvSpPr txBox="1"/>
          <p:nvPr/>
        </p:nvSpPr>
        <p:spPr>
          <a:xfrm>
            <a:off x="804672" y="3410712"/>
            <a:ext cx="457200" cy="457200"/>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1444752" y="3291840"/>
            <a:ext cx="3017520" cy="68580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Use signals for every action</a:t>
            </a:r>
            <a:endParaRPr lang="en-US" sz="1900" dirty="0"/>
          </a:p>
        </p:txBody>
      </p:sp>
      <p:sp>
        <p:nvSpPr>
          <p:cNvPr id="17" name="Text 15"/>
          <p:cNvSpPr txBox="1"/>
          <p:nvPr/>
        </p:nvSpPr>
        <p:spPr>
          <a:xfrm>
            <a:off x="4553712" y="3291840"/>
            <a:ext cx="6858000" cy="685800"/>
          </a:xfrm>
          <a:prstGeom prst="rect">
            <a:avLst/>
          </a:prstGeom>
          <a:noFill/>
          <a:ln/>
        </p:spPr>
        <p:txBody>
          <a:bodyPr wrap="square" lIns="0" tIns="0" rIns="0" bIns="0" rtlCol="0" anchor="ctr"/>
          <a:lstStyle/>
          <a:p>
            <a:pPr indent="0" marL="0">
              <a:lnSpc>
                <a:spcPts val="2100"/>
              </a:lnSpc>
              <a:buNone/>
            </a:pPr>
            <a:r>
              <a:rPr lang="en-US" sz="1600" dirty="0">
                <a:solidFill>
                  <a:srgbClr val="4F6275"/>
                </a:solidFill>
                <a:latin typeface="Calibri" pitchFamily="34" charset="0"/>
                <a:ea typeface="Calibri" pitchFamily="34" charset="-122"/>
                <a:cs typeface="Calibri" pitchFamily="34" charset="-120"/>
              </a:rPr>
              <a:t>Apply </a:t>
            </a:r>
            <a:pPr indent="0" marL="0">
              <a:lnSpc>
                <a:spcPts val="2100"/>
              </a:lnSpc>
              <a:buNone/>
            </a:pPr>
            <a:r>
              <a:rPr lang="en-US" sz="1600" b="1" dirty="0">
                <a:solidFill>
                  <a:srgbClr val="0B1F3A"/>
                </a:solidFill>
                <a:latin typeface="Calibri" pitchFamily="34" charset="0"/>
                <a:ea typeface="Calibri" pitchFamily="34" charset="-122"/>
                <a:cs typeface="Calibri" pitchFamily="34" charset="-120"/>
              </a:rPr>
              <a:t>POSIX signals</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 to request status, trigger work, pause, resume and stop a child.</a:t>
            </a:r>
            <a:endParaRPr lang="en-US" sz="1600" dirty="0"/>
          </a:p>
        </p:txBody>
      </p:sp>
      <p:sp>
        <p:nvSpPr>
          <p:cNvPr id="18" name="Shape 16"/>
          <p:cNvSpPr/>
          <p:nvPr/>
        </p:nvSpPr>
        <p:spPr>
          <a:xfrm>
            <a:off x="548640" y="4160520"/>
            <a:ext cx="11091672" cy="868680"/>
          </a:xfrm>
          <a:prstGeom prst="roundRect">
            <a:avLst>
              <a:gd name="adj" fmla="val 8421"/>
            </a:avLst>
          </a:prstGeom>
          <a:solidFill>
            <a:srgbClr val="FFFFFF"/>
          </a:solidFill>
          <a:ln w="12700">
            <a:solidFill>
              <a:srgbClr val="D8E1E8"/>
            </a:solidFill>
            <a:prstDash val="solid"/>
          </a:ln>
        </p:spPr>
      </p:sp>
      <p:sp>
        <p:nvSpPr>
          <p:cNvPr id="19" name="Shape 17"/>
          <p:cNvSpPr/>
          <p:nvPr/>
        </p:nvSpPr>
        <p:spPr>
          <a:xfrm>
            <a:off x="804672" y="4370832"/>
            <a:ext cx="457200" cy="457200"/>
          </a:xfrm>
          <a:prstGeom prst="ellipse">
            <a:avLst/>
          </a:prstGeom>
          <a:solidFill>
            <a:srgbClr val="00A896"/>
          </a:solidFill>
          <a:ln w="12700">
            <a:solidFill>
              <a:srgbClr val="00A896"/>
            </a:solidFill>
            <a:prstDash val="solid"/>
          </a:ln>
        </p:spPr>
      </p:sp>
      <p:sp>
        <p:nvSpPr>
          <p:cNvPr id="20" name="Text 18"/>
          <p:cNvSpPr txBox="1"/>
          <p:nvPr/>
        </p:nvSpPr>
        <p:spPr>
          <a:xfrm>
            <a:off x="804672" y="4370832"/>
            <a:ext cx="457200" cy="457200"/>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1444752" y="4251960"/>
            <a:ext cx="3017520" cy="68580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Exchange data both ways</a:t>
            </a:r>
            <a:endParaRPr lang="en-US" sz="1900" dirty="0"/>
          </a:p>
        </p:txBody>
      </p:sp>
      <p:sp>
        <p:nvSpPr>
          <p:cNvPr id="22" name="Text 20"/>
          <p:cNvSpPr txBox="1"/>
          <p:nvPr/>
        </p:nvSpPr>
        <p:spPr>
          <a:xfrm>
            <a:off x="4553712" y="4251960"/>
            <a:ext cx="6858000" cy="685800"/>
          </a:xfrm>
          <a:prstGeom prst="rect">
            <a:avLst/>
          </a:prstGeom>
          <a:noFill/>
          <a:ln/>
        </p:spPr>
        <p:txBody>
          <a:bodyPr wrap="square" lIns="0" tIns="0" rIns="0" bIns="0" rtlCol="0" anchor="ctr"/>
          <a:lstStyle/>
          <a:p>
            <a:pPr indent="0" marL="0">
              <a:lnSpc>
                <a:spcPts val="2100"/>
              </a:lnSpc>
              <a:buNone/>
            </a:pPr>
            <a:r>
              <a:rPr lang="en-US" sz="1600" dirty="0">
                <a:solidFill>
                  <a:srgbClr val="4F6275"/>
                </a:solidFill>
                <a:latin typeface="Calibri" pitchFamily="34" charset="0"/>
                <a:ea typeface="Calibri" pitchFamily="34" charset="-122"/>
                <a:cs typeface="Calibri" pitchFamily="34" charset="-120"/>
              </a:rPr>
              <a:t>Carry child events to the parent through a </a:t>
            </a:r>
            <a:pPr indent="0" marL="0">
              <a:lnSpc>
                <a:spcPts val="2100"/>
              </a:lnSpc>
              <a:buNone/>
            </a:pPr>
            <a:r>
              <a:rPr lang="en-US" sz="1600" b="1" dirty="0">
                <a:solidFill>
                  <a:srgbClr val="0B1F3A"/>
                </a:solidFill>
                <a:latin typeface="Calibri" pitchFamily="34" charset="0"/>
                <a:ea typeface="Calibri" pitchFamily="34" charset="-122"/>
                <a:cs typeface="Calibri" pitchFamily="34" charset="-120"/>
              </a:rPr>
              <a:t>pipe</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 and outside commands into the parent through a </a:t>
            </a:r>
            <a:pPr indent="0" marL="0">
              <a:lnSpc>
                <a:spcPts val="2100"/>
              </a:lnSpc>
              <a:buNone/>
            </a:pPr>
            <a:r>
              <a:rPr lang="en-US" sz="1600" b="1" dirty="0">
                <a:solidFill>
                  <a:srgbClr val="0B1F3A"/>
                </a:solidFill>
                <a:latin typeface="Calibri" pitchFamily="34" charset="0"/>
                <a:ea typeface="Calibri" pitchFamily="34" charset="-122"/>
                <a:cs typeface="Calibri" pitchFamily="34" charset="-120"/>
              </a:rPr>
              <a:t>FIFO</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548640" y="5120640"/>
            <a:ext cx="11091672" cy="868680"/>
          </a:xfrm>
          <a:prstGeom prst="roundRect">
            <a:avLst>
              <a:gd name="adj" fmla="val 8421"/>
            </a:avLst>
          </a:prstGeom>
          <a:solidFill>
            <a:srgbClr val="F1F5F9"/>
          </a:solidFill>
          <a:ln w="12700">
            <a:solidFill>
              <a:srgbClr val="D8E1E8"/>
            </a:solidFill>
            <a:prstDash val="solid"/>
          </a:ln>
        </p:spPr>
      </p:sp>
      <p:sp>
        <p:nvSpPr>
          <p:cNvPr id="24" name="Shape 22"/>
          <p:cNvSpPr/>
          <p:nvPr/>
        </p:nvSpPr>
        <p:spPr>
          <a:xfrm>
            <a:off x="804672" y="5330952"/>
            <a:ext cx="457200" cy="457200"/>
          </a:xfrm>
          <a:prstGeom prst="ellipse">
            <a:avLst/>
          </a:prstGeom>
          <a:solidFill>
            <a:srgbClr val="00A896"/>
          </a:solidFill>
          <a:ln w="12700">
            <a:solidFill>
              <a:srgbClr val="00A896"/>
            </a:solidFill>
            <a:prstDash val="solid"/>
          </a:ln>
        </p:spPr>
      </p:sp>
      <p:sp>
        <p:nvSpPr>
          <p:cNvPr id="25" name="Text 23"/>
          <p:cNvSpPr txBox="1"/>
          <p:nvPr/>
        </p:nvSpPr>
        <p:spPr>
          <a:xfrm>
            <a:off x="804672" y="5330952"/>
            <a:ext cx="457200" cy="457200"/>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5</a:t>
            </a:r>
            <a:endParaRPr lang="en-US" sz="1800" dirty="0"/>
          </a:p>
        </p:txBody>
      </p:sp>
      <p:sp>
        <p:nvSpPr>
          <p:cNvPr id="26" name="Text 24"/>
          <p:cNvSpPr txBox="1"/>
          <p:nvPr/>
        </p:nvSpPr>
        <p:spPr>
          <a:xfrm>
            <a:off x="1444752" y="5212080"/>
            <a:ext cx="3017520" cy="68580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Verify and clean up</a:t>
            </a:r>
            <a:endParaRPr lang="en-US" sz="1900" dirty="0"/>
          </a:p>
        </p:txBody>
      </p:sp>
      <p:sp>
        <p:nvSpPr>
          <p:cNvPr id="27" name="Text 25"/>
          <p:cNvSpPr txBox="1"/>
          <p:nvPr/>
        </p:nvSpPr>
        <p:spPr>
          <a:xfrm>
            <a:off x="4553712" y="5212080"/>
            <a:ext cx="6858000" cy="685800"/>
          </a:xfrm>
          <a:prstGeom prst="rect">
            <a:avLst/>
          </a:prstGeom>
          <a:noFill/>
          <a:ln/>
        </p:spPr>
        <p:txBody>
          <a:bodyPr wrap="square" lIns="0" tIns="0" rIns="0" bIns="0" rtlCol="0" anchor="ctr"/>
          <a:lstStyle/>
          <a:p>
            <a:pPr indent="0" marL="0">
              <a:lnSpc>
                <a:spcPts val="2100"/>
              </a:lnSpc>
              <a:buNone/>
            </a:pPr>
            <a:r>
              <a:rPr lang="en-US" sz="1600" dirty="0">
                <a:solidFill>
                  <a:srgbClr val="4F6275"/>
                </a:solidFill>
                <a:latin typeface="Calibri" pitchFamily="34" charset="0"/>
                <a:ea typeface="Calibri" pitchFamily="34" charset="-122"/>
                <a:cs typeface="Calibri" pitchFamily="34" charset="-120"/>
              </a:rPr>
              <a:t>Confirm each child state from </a:t>
            </a:r>
            <a:pPr indent="0" marL="0">
              <a:lnSpc>
                <a:spcPts val="2100"/>
              </a:lnSpc>
              <a:buNone/>
            </a:pPr>
            <a:r>
              <a:rPr lang="en-US" sz="1500" b="1" dirty="0">
                <a:solidFill>
                  <a:srgbClr val="0B1F3A"/>
                </a:solidFill>
                <a:latin typeface="Courier New" pitchFamily="34" charset="0"/>
                <a:ea typeface="Courier New" pitchFamily="34" charset="-122"/>
                <a:cs typeface="Courier New" pitchFamily="34" charset="-120"/>
              </a:rPr>
              <a:t>/proc/[pid]/status</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 and </a:t>
            </a:r>
            <a:pPr indent="0" marL="0">
              <a:lnSpc>
                <a:spcPts val="2100"/>
              </a:lnSpc>
              <a:buNone/>
            </a:pPr>
            <a:r>
              <a:rPr lang="en-US" sz="1600" b="1" dirty="0">
                <a:solidFill>
                  <a:srgbClr val="0B1F3A"/>
                </a:solidFill>
                <a:latin typeface="Calibri" pitchFamily="34" charset="0"/>
                <a:ea typeface="Calibri" pitchFamily="34" charset="-122"/>
                <a:cs typeface="Calibri" pitchFamily="34" charset="-120"/>
              </a:rPr>
              <a:t>reap every terminated child</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 so no zombie remains.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200" b="1" dirty="0">
                <a:solidFill>
                  <a:srgbClr val="0B1F3A"/>
                </a:solidFill>
                <a:latin typeface="Calibri" pitchFamily="34" charset="0"/>
                <a:ea typeface="Calibri" pitchFamily="34" charset="-122"/>
                <a:cs typeface="Calibri" pitchFamily="34" charset="-120"/>
              </a:rPr>
              <a:t>Proposed Architecture</a:t>
            </a:r>
            <a:endParaRPr lang="en-US" sz="3200" dirty="0"/>
          </a:p>
        </p:txBody>
      </p:sp>
      <p:sp>
        <p:nvSpPr>
          <p:cNvPr id="3" name="Shape 1"/>
          <p:cNvSpPr/>
          <p:nvPr/>
        </p:nvSpPr>
        <p:spPr>
          <a:xfrm>
            <a:off x="502920" y="1600200"/>
            <a:ext cx="2148840" cy="960120"/>
          </a:xfrm>
          <a:prstGeom prst="roundRect">
            <a:avLst>
              <a:gd name="adj" fmla="val 7619"/>
            </a:avLst>
          </a:prstGeom>
          <a:solidFill>
            <a:srgbClr val="F1F5F9"/>
          </a:solidFill>
          <a:ln w="19050">
            <a:solidFill>
              <a:srgbClr val="D8E1E8"/>
            </a:solidFill>
            <a:prstDash val="solid"/>
          </a:ln>
        </p:spPr>
      </p:sp>
      <p:sp>
        <p:nvSpPr>
          <p:cNvPr id="4" name="Text 2"/>
          <p:cNvSpPr txBox="1"/>
          <p:nvPr/>
        </p:nvSpPr>
        <p:spPr>
          <a:xfrm>
            <a:off x="576072" y="1691640"/>
            <a:ext cx="2002536" cy="499262"/>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Second Terminal</a:t>
            </a:r>
            <a:endParaRPr lang="en-US" sz="1700" dirty="0"/>
          </a:p>
        </p:txBody>
      </p:sp>
      <p:sp>
        <p:nvSpPr>
          <p:cNvPr id="5" name="Text 3"/>
          <p:cNvSpPr txBox="1"/>
          <p:nvPr/>
        </p:nvSpPr>
        <p:spPr>
          <a:xfrm>
            <a:off x="576072" y="2099462"/>
            <a:ext cx="2002536" cy="384048"/>
          </a:xfrm>
          <a:prstGeom prst="rect">
            <a:avLst/>
          </a:prstGeom>
          <a:noFill/>
          <a:ln/>
        </p:spPr>
        <p:txBody>
          <a:bodyPr wrap="square" lIns="0" tIns="0" rIns="0" bIns="0" rtlCol="0" anchor="ctr"/>
          <a:lstStyle/>
          <a:p>
            <a:pPr algn="ctr" indent="0" marL="0">
              <a:buNone/>
            </a:pPr>
            <a:r>
              <a:rPr lang="en-US" sz="1350" dirty="0">
                <a:solidFill>
                  <a:srgbClr val="4F6275"/>
                </a:solidFill>
                <a:latin typeface="Calibri" pitchFamily="34" charset="0"/>
                <a:ea typeface="Calibri" pitchFamily="34" charset="-122"/>
                <a:cs typeface="Calibri" pitchFamily="34" charset="-120"/>
              </a:rPr>
              <a:t>user types a command</a:t>
            </a:r>
            <a:endParaRPr lang="en-US" sz="1350" dirty="0"/>
          </a:p>
        </p:txBody>
      </p:sp>
      <p:sp>
        <p:nvSpPr>
          <p:cNvPr id="6" name="Shape 4"/>
          <p:cNvSpPr/>
          <p:nvPr/>
        </p:nvSpPr>
        <p:spPr>
          <a:xfrm>
            <a:off x="2651760" y="2084832"/>
            <a:ext cx="411480" cy="0"/>
          </a:xfrm>
          <a:prstGeom prst="line">
            <a:avLst/>
          </a:prstGeom>
          <a:noFill/>
          <a:ln w="28575">
            <a:solidFill>
              <a:srgbClr val="00786A"/>
            </a:solidFill>
            <a:prstDash val="solid"/>
            <a:tailEnd type="triangle"/>
          </a:ln>
        </p:spPr>
      </p:sp>
      <p:sp>
        <p:nvSpPr>
          <p:cNvPr id="7" name="Text 5"/>
          <p:cNvSpPr txBox="1"/>
          <p:nvPr/>
        </p:nvSpPr>
        <p:spPr>
          <a:xfrm>
            <a:off x="2395728" y="1225296"/>
            <a:ext cx="914400" cy="274320"/>
          </a:xfrm>
          <a:prstGeom prst="rect">
            <a:avLst/>
          </a:prstGeom>
          <a:noFill/>
          <a:ln/>
        </p:spPr>
        <p:txBody>
          <a:bodyPr wrap="square" lIns="0" tIns="0" rIns="0" bIns="0" rtlCol="0" anchor="ctr"/>
          <a:lstStyle/>
          <a:p>
            <a:pPr algn="ctr" indent="0" marL="0">
              <a:buNone/>
            </a:pPr>
            <a:r>
              <a:rPr lang="en-US" sz="1300" b="1" dirty="0">
                <a:solidFill>
                  <a:srgbClr val="00786A"/>
                </a:solidFill>
                <a:latin typeface="Calibri" pitchFamily="34" charset="0"/>
                <a:ea typeface="Calibri" pitchFamily="34" charset="-122"/>
                <a:cs typeface="Calibri" pitchFamily="34" charset="-120"/>
              </a:rPr>
              <a:t>command</a:t>
            </a:r>
            <a:endParaRPr lang="en-US" sz="1300" dirty="0"/>
          </a:p>
        </p:txBody>
      </p:sp>
      <p:sp>
        <p:nvSpPr>
          <p:cNvPr id="8" name="Shape 6"/>
          <p:cNvSpPr/>
          <p:nvPr/>
        </p:nvSpPr>
        <p:spPr>
          <a:xfrm>
            <a:off x="3063240" y="1600200"/>
            <a:ext cx="1874520" cy="960120"/>
          </a:xfrm>
          <a:prstGeom prst="roundRect">
            <a:avLst>
              <a:gd name="adj" fmla="val 7619"/>
            </a:avLst>
          </a:prstGeom>
          <a:solidFill>
            <a:srgbClr val="E6F4F1"/>
          </a:solidFill>
          <a:ln w="19050">
            <a:solidFill>
              <a:srgbClr val="C7E4DD"/>
            </a:solidFill>
            <a:prstDash val="solid"/>
          </a:ln>
        </p:spPr>
      </p:sp>
      <p:sp>
        <p:nvSpPr>
          <p:cNvPr id="9" name="Text 7"/>
          <p:cNvSpPr txBox="1"/>
          <p:nvPr/>
        </p:nvSpPr>
        <p:spPr>
          <a:xfrm>
            <a:off x="3136392" y="1691640"/>
            <a:ext cx="1728216" cy="499262"/>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Named FIFO</a:t>
            </a:r>
            <a:endParaRPr lang="en-US" sz="1700" dirty="0"/>
          </a:p>
        </p:txBody>
      </p:sp>
      <p:sp>
        <p:nvSpPr>
          <p:cNvPr id="10" name="Text 8"/>
          <p:cNvSpPr txBox="1"/>
          <p:nvPr/>
        </p:nvSpPr>
        <p:spPr>
          <a:xfrm>
            <a:off x="3136392" y="2099462"/>
            <a:ext cx="1728216" cy="384048"/>
          </a:xfrm>
          <a:prstGeom prst="rect">
            <a:avLst/>
          </a:prstGeom>
          <a:noFill/>
          <a:ln/>
        </p:spPr>
        <p:txBody>
          <a:bodyPr wrap="square" lIns="0" tIns="0" rIns="0" bIns="0" rtlCol="0" anchor="ctr"/>
          <a:lstStyle/>
          <a:p>
            <a:pPr algn="ctr" indent="0" marL="0">
              <a:buNone/>
            </a:pPr>
            <a:r>
              <a:rPr lang="en-US" sz="1350" dirty="0">
                <a:solidFill>
                  <a:srgbClr val="4F6275"/>
                </a:solidFill>
                <a:latin typeface="Courier New" pitchFamily="34" charset="0"/>
                <a:ea typeface="Courier New" pitchFamily="34" charset="-122"/>
                <a:cs typeface="Courier New" pitchFamily="34" charset="-120"/>
              </a:rPr>
              <a:t>mkfifo()</a:t>
            </a:r>
            <a:endParaRPr lang="en-US" sz="1350" dirty="0"/>
          </a:p>
        </p:txBody>
      </p:sp>
      <p:sp>
        <p:nvSpPr>
          <p:cNvPr id="11" name="Shape 9"/>
          <p:cNvSpPr/>
          <p:nvPr/>
        </p:nvSpPr>
        <p:spPr>
          <a:xfrm>
            <a:off x="4937760" y="2084832"/>
            <a:ext cx="411480" cy="0"/>
          </a:xfrm>
          <a:prstGeom prst="line">
            <a:avLst/>
          </a:prstGeom>
          <a:noFill/>
          <a:ln w="28575">
            <a:solidFill>
              <a:srgbClr val="00786A"/>
            </a:solidFill>
            <a:prstDash val="solid"/>
            <a:tailEnd type="triangle"/>
          </a:ln>
        </p:spPr>
      </p:sp>
      <p:sp>
        <p:nvSpPr>
          <p:cNvPr id="12" name="Shape 10"/>
          <p:cNvSpPr/>
          <p:nvPr/>
        </p:nvSpPr>
        <p:spPr>
          <a:xfrm>
            <a:off x="5349240" y="1554480"/>
            <a:ext cx="2834640" cy="1051560"/>
          </a:xfrm>
          <a:prstGeom prst="roundRect">
            <a:avLst>
              <a:gd name="adj" fmla="val 6957"/>
            </a:avLst>
          </a:prstGeom>
          <a:solidFill>
            <a:srgbClr val="0B1F3A"/>
          </a:solidFill>
          <a:ln w="19050">
            <a:solidFill>
              <a:srgbClr val="0B1F3A"/>
            </a:solidFill>
            <a:prstDash val="solid"/>
          </a:ln>
        </p:spPr>
      </p:sp>
      <p:sp>
        <p:nvSpPr>
          <p:cNvPr id="13" name="Text 11"/>
          <p:cNvSpPr txBox="1"/>
          <p:nvPr/>
        </p:nvSpPr>
        <p:spPr>
          <a:xfrm>
            <a:off x="5394960" y="1645920"/>
            <a:ext cx="2743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Parent Controller</a:t>
            </a:r>
            <a:endParaRPr lang="en-US" sz="1800" dirty="0"/>
          </a:p>
        </p:txBody>
      </p:sp>
      <p:sp>
        <p:nvSpPr>
          <p:cNvPr id="14" name="Text 12"/>
          <p:cNvSpPr txBox="1"/>
          <p:nvPr/>
        </p:nvSpPr>
        <p:spPr>
          <a:xfrm>
            <a:off x="5394960" y="2075688"/>
            <a:ext cx="2743200" cy="365760"/>
          </a:xfrm>
          <a:prstGeom prst="rect">
            <a:avLst/>
          </a:prstGeom>
          <a:noFill/>
          <a:ln/>
        </p:spPr>
        <p:txBody>
          <a:bodyPr wrap="square" lIns="0" tIns="0" rIns="0" bIns="0" rtlCol="0" anchor="ctr"/>
          <a:lstStyle/>
          <a:p>
            <a:pPr algn="ctr" indent="0" marL="0">
              <a:buNone/>
            </a:pPr>
            <a:r>
              <a:rPr lang="en-US" sz="1350" dirty="0">
                <a:solidFill>
                  <a:srgbClr val="00A896"/>
                </a:solidFill>
                <a:latin typeface="Calibri" pitchFamily="34" charset="0"/>
                <a:ea typeface="Calibri" pitchFamily="34" charset="-122"/>
                <a:cs typeface="Calibri" pitchFamily="34" charset="-120"/>
              </a:rPr>
              <a:t>menu + signal sender</a:t>
            </a:r>
            <a:endParaRPr lang="en-US" sz="1350" dirty="0"/>
          </a:p>
        </p:txBody>
      </p:sp>
      <p:sp>
        <p:nvSpPr>
          <p:cNvPr id="15" name="Shape 13"/>
          <p:cNvSpPr/>
          <p:nvPr/>
        </p:nvSpPr>
        <p:spPr>
          <a:xfrm>
            <a:off x="9144000" y="1600200"/>
            <a:ext cx="2496312" cy="960120"/>
          </a:xfrm>
          <a:prstGeom prst="roundRect">
            <a:avLst>
              <a:gd name="adj" fmla="val 7619"/>
            </a:avLst>
          </a:prstGeom>
          <a:solidFill>
            <a:srgbClr val="F1F5F9"/>
          </a:solidFill>
          <a:ln w="19050">
            <a:solidFill>
              <a:srgbClr val="D8E1E8"/>
            </a:solidFill>
            <a:prstDash val="solid"/>
          </a:ln>
        </p:spPr>
      </p:sp>
      <p:sp>
        <p:nvSpPr>
          <p:cNvPr id="16" name="Text 14"/>
          <p:cNvSpPr txBox="1"/>
          <p:nvPr/>
        </p:nvSpPr>
        <p:spPr>
          <a:xfrm>
            <a:off x="9217152" y="1691640"/>
            <a:ext cx="2350008" cy="499262"/>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Anonymous Pipe</a:t>
            </a:r>
            <a:endParaRPr lang="en-US" sz="1700" dirty="0"/>
          </a:p>
        </p:txBody>
      </p:sp>
      <p:sp>
        <p:nvSpPr>
          <p:cNvPr id="17" name="Text 15"/>
          <p:cNvSpPr txBox="1"/>
          <p:nvPr/>
        </p:nvSpPr>
        <p:spPr>
          <a:xfrm>
            <a:off x="9217152" y="2099462"/>
            <a:ext cx="2350008" cy="384048"/>
          </a:xfrm>
          <a:prstGeom prst="rect">
            <a:avLst/>
          </a:prstGeom>
          <a:noFill/>
          <a:ln/>
        </p:spPr>
        <p:txBody>
          <a:bodyPr wrap="square" lIns="0" tIns="0" rIns="0" bIns="0" rtlCol="0" anchor="ctr"/>
          <a:lstStyle/>
          <a:p>
            <a:pPr algn="ctr" indent="0" marL="0">
              <a:buNone/>
            </a:pPr>
            <a:r>
              <a:rPr lang="en-US" sz="1350" dirty="0">
                <a:solidFill>
                  <a:srgbClr val="4F6275"/>
                </a:solidFill>
                <a:latin typeface="Calibri" pitchFamily="34" charset="0"/>
                <a:ea typeface="Calibri" pitchFamily="34" charset="-122"/>
                <a:cs typeface="Calibri" pitchFamily="34" charset="-120"/>
              </a:rPr>
              <a:t>carries child events</a:t>
            </a:r>
            <a:endParaRPr lang="en-US" sz="1350" dirty="0"/>
          </a:p>
        </p:txBody>
      </p:sp>
      <p:sp>
        <p:nvSpPr>
          <p:cNvPr id="18" name="Shape 16"/>
          <p:cNvSpPr/>
          <p:nvPr/>
        </p:nvSpPr>
        <p:spPr>
          <a:xfrm>
            <a:off x="9144000" y="2084832"/>
            <a:ext cx="-960120" cy="0"/>
          </a:xfrm>
          <a:prstGeom prst="line">
            <a:avLst/>
          </a:prstGeom>
          <a:noFill/>
          <a:ln w="28575">
            <a:solidFill>
              <a:srgbClr val="00786A"/>
            </a:solidFill>
            <a:prstDash val="solid"/>
            <a:tailEnd type="triangle"/>
          </a:ln>
        </p:spPr>
      </p:sp>
      <p:sp>
        <p:nvSpPr>
          <p:cNvPr id="19" name="Text 17"/>
          <p:cNvSpPr txBox="1"/>
          <p:nvPr/>
        </p:nvSpPr>
        <p:spPr>
          <a:xfrm>
            <a:off x="8211312" y="1225296"/>
            <a:ext cx="914400" cy="274320"/>
          </a:xfrm>
          <a:prstGeom prst="rect">
            <a:avLst/>
          </a:prstGeom>
          <a:noFill/>
          <a:ln/>
        </p:spPr>
        <p:txBody>
          <a:bodyPr wrap="square" lIns="0" tIns="0" rIns="0" bIns="0" rtlCol="0" anchor="ctr"/>
          <a:lstStyle/>
          <a:p>
            <a:pPr algn="ctr" indent="0" marL="0">
              <a:buNone/>
            </a:pPr>
            <a:r>
              <a:rPr lang="en-US" sz="1300" b="1" dirty="0">
                <a:solidFill>
                  <a:srgbClr val="00786A"/>
                </a:solidFill>
                <a:latin typeface="Calibri" pitchFamily="34" charset="0"/>
                <a:ea typeface="Calibri" pitchFamily="34" charset="-122"/>
                <a:cs typeface="Calibri" pitchFamily="34" charset="-120"/>
              </a:rPr>
              <a:t>event</a:t>
            </a:r>
            <a:endParaRPr lang="en-US" sz="1300" dirty="0"/>
          </a:p>
        </p:txBody>
      </p:sp>
      <p:sp>
        <p:nvSpPr>
          <p:cNvPr id="20" name="Shape 18"/>
          <p:cNvSpPr/>
          <p:nvPr/>
        </p:nvSpPr>
        <p:spPr>
          <a:xfrm>
            <a:off x="4343400" y="3154680"/>
            <a:ext cx="4846320" cy="777240"/>
          </a:xfrm>
          <a:prstGeom prst="roundRect">
            <a:avLst>
              <a:gd name="adj" fmla="val 9412"/>
            </a:avLst>
          </a:prstGeom>
          <a:solidFill>
            <a:srgbClr val="DCE9F2"/>
          </a:solidFill>
          <a:ln w="19050">
            <a:solidFill>
              <a:srgbClr val="B9CEDC"/>
            </a:solidFill>
            <a:prstDash val="solid"/>
          </a:ln>
        </p:spPr>
      </p:sp>
      <p:sp>
        <p:nvSpPr>
          <p:cNvPr id="21" name="Text 19"/>
          <p:cNvSpPr txBox="1"/>
          <p:nvPr/>
        </p:nvSpPr>
        <p:spPr>
          <a:xfrm>
            <a:off x="4416552" y="3154680"/>
            <a:ext cx="4700016" cy="777240"/>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Linux Kernel  —  delivers the signal to the target process</a:t>
            </a:r>
            <a:endParaRPr lang="en-US" sz="1700" dirty="0"/>
          </a:p>
        </p:txBody>
      </p:sp>
      <p:sp>
        <p:nvSpPr>
          <p:cNvPr id="22" name="Shape 20"/>
          <p:cNvSpPr/>
          <p:nvPr/>
        </p:nvSpPr>
        <p:spPr>
          <a:xfrm>
            <a:off x="6766560" y="2606040"/>
            <a:ext cx="0" cy="548640"/>
          </a:xfrm>
          <a:prstGeom prst="line">
            <a:avLst/>
          </a:prstGeom>
          <a:noFill/>
          <a:ln w="28575">
            <a:solidFill>
              <a:srgbClr val="00786A"/>
            </a:solidFill>
            <a:prstDash val="solid"/>
            <a:tailEnd type="triangle"/>
          </a:ln>
        </p:spPr>
      </p:sp>
      <p:sp>
        <p:nvSpPr>
          <p:cNvPr id="23" name="Text 21"/>
          <p:cNvSpPr txBox="1"/>
          <p:nvPr/>
        </p:nvSpPr>
        <p:spPr>
          <a:xfrm>
            <a:off x="6903720" y="2697480"/>
            <a:ext cx="914400" cy="274320"/>
          </a:xfrm>
          <a:prstGeom prst="rect">
            <a:avLst/>
          </a:prstGeom>
          <a:noFill/>
          <a:ln/>
        </p:spPr>
        <p:txBody>
          <a:bodyPr wrap="square" lIns="0" tIns="0" rIns="0" bIns="0" rtlCol="0" anchor="ctr"/>
          <a:lstStyle/>
          <a:p>
            <a:pPr algn="ctr" indent="0" marL="0">
              <a:buNone/>
            </a:pPr>
            <a:r>
              <a:rPr lang="en-US" sz="1300" b="1" dirty="0">
                <a:solidFill>
                  <a:srgbClr val="00786A"/>
                </a:solidFill>
                <a:latin typeface="Calibri" pitchFamily="34" charset="0"/>
                <a:ea typeface="Calibri" pitchFamily="34" charset="-122"/>
                <a:cs typeface="Calibri" pitchFamily="34" charset="-120"/>
              </a:rPr>
              <a:t>kill()</a:t>
            </a:r>
            <a:endParaRPr lang="en-US" sz="1300" dirty="0"/>
          </a:p>
        </p:txBody>
      </p:sp>
      <p:sp>
        <p:nvSpPr>
          <p:cNvPr id="24" name="Shape 22"/>
          <p:cNvSpPr/>
          <p:nvPr/>
        </p:nvSpPr>
        <p:spPr>
          <a:xfrm>
            <a:off x="6766560" y="3931920"/>
            <a:ext cx="0" cy="502920"/>
          </a:xfrm>
          <a:prstGeom prst="line">
            <a:avLst/>
          </a:prstGeom>
          <a:noFill/>
          <a:ln w="28575">
            <a:solidFill>
              <a:srgbClr val="00786A"/>
            </a:solidFill>
            <a:prstDash val="solid"/>
            <a:tailEnd type="triangle"/>
          </a:ln>
        </p:spPr>
      </p:sp>
      <p:sp>
        <p:nvSpPr>
          <p:cNvPr id="25" name="Text 23"/>
          <p:cNvSpPr txBox="1"/>
          <p:nvPr/>
        </p:nvSpPr>
        <p:spPr>
          <a:xfrm>
            <a:off x="6903720" y="4023360"/>
            <a:ext cx="914400" cy="274320"/>
          </a:xfrm>
          <a:prstGeom prst="rect">
            <a:avLst/>
          </a:prstGeom>
          <a:noFill/>
          <a:ln/>
        </p:spPr>
        <p:txBody>
          <a:bodyPr wrap="square" lIns="0" tIns="0" rIns="0" bIns="0" rtlCol="0" anchor="ctr"/>
          <a:lstStyle/>
          <a:p>
            <a:pPr algn="ctr" indent="0" marL="0">
              <a:buNone/>
            </a:pPr>
            <a:r>
              <a:rPr lang="en-US" sz="1300" b="1" dirty="0">
                <a:solidFill>
                  <a:srgbClr val="00786A"/>
                </a:solidFill>
                <a:latin typeface="Calibri" pitchFamily="34" charset="0"/>
                <a:ea typeface="Calibri" pitchFamily="34" charset="-122"/>
                <a:cs typeface="Calibri" pitchFamily="34" charset="-120"/>
              </a:rPr>
              <a:t>signal</a:t>
            </a:r>
            <a:endParaRPr lang="en-US" sz="1300" dirty="0"/>
          </a:p>
        </p:txBody>
      </p:sp>
      <p:sp>
        <p:nvSpPr>
          <p:cNvPr id="26" name="Shape 24"/>
          <p:cNvSpPr/>
          <p:nvPr/>
        </p:nvSpPr>
        <p:spPr>
          <a:xfrm>
            <a:off x="502920" y="4434840"/>
            <a:ext cx="10241280" cy="1600200"/>
          </a:xfrm>
          <a:prstGeom prst="roundRect">
            <a:avLst>
              <a:gd name="adj" fmla="val 4571"/>
            </a:avLst>
          </a:prstGeom>
          <a:solidFill>
            <a:srgbClr val="F7FAFC"/>
          </a:solidFill>
          <a:ln w="19050">
            <a:solidFill>
              <a:srgbClr val="00A896"/>
            </a:solidFill>
            <a:prstDash val="dash"/>
          </a:ln>
        </p:spPr>
      </p:sp>
      <p:sp>
        <p:nvSpPr>
          <p:cNvPr id="27" name="Text 25"/>
          <p:cNvSpPr txBox="1"/>
          <p:nvPr/>
        </p:nvSpPr>
        <p:spPr>
          <a:xfrm>
            <a:off x="685800" y="4507992"/>
            <a:ext cx="9875520" cy="292608"/>
          </a:xfrm>
          <a:prstGeom prst="rect">
            <a:avLst/>
          </a:prstGeom>
          <a:noFill/>
          <a:ln/>
        </p:spPr>
        <p:txBody>
          <a:bodyPr wrap="square" lIns="0" tIns="0" rIns="0" bIns="0" rtlCol="0" anchor="ctr"/>
          <a:lstStyle/>
          <a:p>
            <a:pPr algn="ctr" indent="0" marL="0">
              <a:buNone/>
            </a:pPr>
            <a:r>
              <a:rPr lang="en-US" sz="1350" b="1" dirty="0">
                <a:solidFill>
                  <a:srgbClr val="00786A"/>
                </a:solidFill>
                <a:latin typeface="Calibri" pitchFamily="34" charset="0"/>
                <a:ea typeface="Calibri" pitchFamily="34" charset="-122"/>
                <a:cs typeface="Calibri" pitchFamily="34" charset="-120"/>
              </a:rPr>
              <a:t>Process Group  —  the three children share one group ID, so one signal can reach them together</a:t>
            </a:r>
            <a:endParaRPr lang="en-US" sz="1350" dirty="0"/>
          </a:p>
        </p:txBody>
      </p:sp>
      <p:sp>
        <p:nvSpPr>
          <p:cNvPr id="28" name="Shape 26"/>
          <p:cNvSpPr/>
          <p:nvPr/>
        </p:nvSpPr>
        <p:spPr>
          <a:xfrm>
            <a:off x="777240" y="4892040"/>
            <a:ext cx="3017520" cy="914400"/>
          </a:xfrm>
          <a:prstGeom prst="roundRect">
            <a:avLst>
              <a:gd name="adj" fmla="val 8000"/>
            </a:avLst>
          </a:prstGeom>
          <a:solidFill>
            <a:srgbClr val="FFFFFF"/>
          </a:solidFill>
          <a:ln w="19050">
            <a:solidFill>
              <a:srgbClr val="D8E1E8"/>
            </a:solidFill>
            <a:prstDash val="solid"/>
          </a:ln>
        </p:spPr>
      </p:sp>
      <p:sp>
        <p:nvSpPr>
          <p:cNvPr id="29" name="Text 27"/>
          <p:cNvSpPr txBox="1"/>
          <p:nvPr/>
        </p:nvSpPr>
        <p:spPr>
          <a:xfrm>
            <a:off x="850392" y="4983480"/>
            <a:ext cx="2871216" cy="475488"/>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Child 1</a:t>
            </a:r>
            <a:endParaRPr lang="en-US" sz="1700" dirty="0"/>
          </a:p>
        </p:txBody>
      </p:sp>
      <p:sp>
        <p:nvSpPr>
          <p:cNvPr id="30" name="Text 28"/>
          <p:cNvSpPr txBox="1"/>
          <p:nvPr/>
        </p:nvSpPr>
        <p:spPr>
          <a:xfrm>
            <a:off x="850392" y="5367528"/>
            <a:ext cx="2871216" cy="365760"/>
          </a:xfrm>
          <a:prstGeom prst="rect">
            <a:avLst/>
          </a:prstGeom>
          <a:noFill/>
          <a:ln/>
        </p:spPr>
        <p:txBody>
          <a:bodyPr wrap="square" lIns="0" tIns="0" rIns="0" bIns="0" rtlCol="0" anchor="ctr"/>
          <a:lstStyle/>
          <a:p>
            <a:pPr algn="ctr" indent="0" marL="0">
              <a:buNone/>
            </a:pPr>
            <a:r>
              <a:rPr lang="en-US" sz="1350" dirty="0">
                <a:solidFill>
                  <a:srgbClr val="4F6275"/>
                </a:solidFill>
                <a:latin typeface="Calibri" pitchFamily="34" charset="0"/>
                <a:ea typeface="Calibri" pitchFamily="34" charset="-122"/>
                <a:cs typeface="Calibri" pitchFamily="34" charset="-120"/>
              </a:rPr>
              <a:t>handles the signal, reports back</a:t>
            </a:r>
            <a:endParaRPr lang="en-US" sz="1350" dirty="0"/>
          </a:p>
        </p:txBody>
      </p:sp>
      <p:sp>
        <p:nvSpPr>
          <p:cNvPr id="31" name="Shape 29"/>
          <p:cNvSpPr/>
          <p:nvPr/>
        </p:nvSpPr>
        <p:spPr>
          <a:xfrm>
            <a:off x="4114800" y="4892040"/>
            <a:ext cx="3017520" cy="914400"/>
          </a:xfrm>
          <a:prstGeom prst="roundRect">
            <a:avLst>
              <a:gd name="adj" fmla="val 8000"/>
            </a:avLst>
          </a:prstGeom>
          <a:solidFill>
            <a:srgbClr val="FFFFFF"/>
          </a:solidFill>
          <a:ln w="19050">
            <a:solidFill>
              <a:srgbClr val="D8E1E8"/>
            </a:solidFill>
            <a:prstDash val="solid"/>
          </a:ln>
        </p:spPr>
      </p:sp>
      <p:sp>
        <p:nvSpPr>
          <p:cNvPr id="32" name="Text 30"/>
          <p:cNvSpPr txBox="1"/>
          <p:nvPr/>
        </p:nvSpPr>
        <p:spPr>
          <a:xfrm>
            <a:off x="4187952" y="4983480"/>
            <a:ext cx="2871216" cy="475488"/>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Child 2</a:t>
            </a:r>
            <a:endParaRPr lang="en-US" sz="1700" dirty="0"/>
          </a:p>
        </p:txBody>
      </p:sp>
      <p:sp>
        <p:nvSpPr>
          <p:cNvPr id="33" name="Text 31"/>
          <p:cNvSpPr txBox="1"/>
          <p:nvPr/>
        </p:nvSpPr>
        <p:spPr>
          <a:xfrm>
            <a:off x="4187952" y="5367528"/>
            <a:ext cx="2871216" cy="365760"/>
          </a:xfrm>
          <a:prstGeom prst="rect">
            <a:avLst/>
          </a:prstGeom>
          <a:noFill/>
          <a:ln/>
        </p:spPr>
        <p:txBody>
          <a:bodyPr wrap="square" lIns="0" tIns="0" rIns="0" bIns="0" rtlCol="0" anchor="ctr"/>
          <a:lstStyle/>
          <a:p>
            <a:pPr algn="ctr" indent="0" marL="0">
              <a:buNone/>
            </a:pPr>
            <a:r>
              <a:rPr lang="en-US" sz="1350" dirty="0">
                <a:solidFill>
                  <a:srgbClr val="4F6275"/>
                </a:solidFill>
                <a:latin typeface="Calibri" pitchFamily="34" charset="0"/>
                <a:ea typeface="Calibri" pitchFamily="34" charset="-122"/>
                <a:cs typeface="Calibri" pitchFamily="34" charset="-120"/>
              </a:rPr>
              <a:t>handles the signal, reports back</a:t>
            </a:r>
            <a:endParaRPr lang="en-US" sz="1350" dirty="0"/>
          </a:p>
        </p:txBody>
      </p:sp>
      <p:sp>
        <p:nvSpPr>
          <p:cNvPr id="34" name="Shape 32"/>
          <p:cNvSpPr/>
          <p:nvPr/>
        </p:nvSpPr>
        <p:spPr>
          <a:xfrm>
            <a:off x="7452360" y="4892040"/>
            <a:ext cx="3017520" cy="914400"/>
          </a:xfrm>
          <a:prstGeom prst="roundRect">
            <a:avLst>
              <a:gd name="adj" fmla="val 8000"/>
            </a:avLst>
          </a:prstGeom>
          <a:solidFill>
            <a:srgbClr val="FFFFFF"/>
          </a:solidFill>
          <a:ln w="19050">
            <a:solidFill>
              <a:srgbClr val="D8E1E8"/>
            </a:solidFill>
            <a:prstDash val="solid"/>
          </a:ln>
        </p:spPr>
      </p:sp>
      <p:sp>
        <p:nvSpPr>
          <p:cNvPr id="35" name="Text 33"/>
          <p:cNvSpPr txBox="1"/>
          <p:nvPr/>
        </p:nvSpPr>
        <p:spPr>
          <a:xfrm>
            <a:off x="7525512" y="4983480"/>
            <a:ext cx="2871216" cy="475488"/>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Child 3</a:t>
            </a:r>
            <a:endParaRPr lang="en-US" sz="1700" dirty="0"/>
          </a:p>
        </p:txBody>
      </p:sp>
      <p:sp>
        <p:nvSpPr>
          <p:cNvPr id="36" name="Text 34"/>
          <p:cNvSpPr txBox="1"/>
          <p:nvPr/>
        </p:nvSpPr>
        <p:spPr>
          <a:xfrm>
            <a:off x="7525512" y="5367528"/>
            <a:ext cx="2871216" cy="365760"/>
          </a:xfrm>
          <a:prstGeom prst="rect">
            <a:avLst/>
          </a:prstGeom>
          <a:noFill/>
          <a:ln/>
        </p:spPr>
        <p:txBody>
          <a:bodyPr wrap="square" lIns="0" tIns="0" rIns="0" bIns="0" rtlCol="0" anchor="ctr"/>
          <a:lstStyle/>
          <a:p>
            <a:pPr algn="ctr" indent="0" marL="0">
              <a:buNone/>
            </a:pPr>
            <a:r>
              <a:rPr lang="en-US" sz="1350" dirty="0">
                <a:solidFill>
                  <a:srgbClr val="4F6275"/>
                </a:solidFill>
                <a:latin typeface="Calibri" pitchFamily="34" charset="0"/>
                <a:ea typeface="Calibri" pitchFamily="34" charset="-122"/>
                <a:cs typeface="Calibri" pitchFamily="34" charset="-120"/>
              </a:rPr>
              <a:t>handles the signal, reports back</a:t>
            </a:r>
            <a:endParaRPr lang="en-US" sz="1350" dirty="0"/>
          </a:p>
        </p:txBody>
      </p:sp>
      <p:sp>
        <p:nvSpPr>
          <p:cNvPr id="37" name="Shape 35"/>
          <p:cNvSpPr/>
          <p:nvPr/>
        </p:nvSpPr>
        <p:spPr>
          <a:xfrm>
            <a:off x="11292840" y="5120640"/>
            <a:ext cx="0" cy="-2514600"/>
          </a:xfrm>
          <a:prstGeom prst="line">
            <a:avLst/>
          </a:prstGeom>
          <a:noFill/>
          <a:ln w="28575">
            <a:solidFill>
              <a:srgbClr val="00786A"/>
            </a:solidFill>
            <a:prstDash val="solid"/>
            <a:tailEnd type="triangle"/>
          </a:ln>
        </p:spPr>
      </p:sp>
      <p:sp>
        <p:nvSpPr>
          <p:cNvPr id="38" name="Text 36"/>
          <p:cNvSpPr txBox="1"/>
          <p:nvPr/>
        </p:nvSpPr>
        <p:spPr>
          <a:xfrm>
            <a:off x="9646920" y="3886200"/>
            <a:ext cx="1371600" cy="548640"/>
          </a:xfrm>
          <a:prstGeom prst="rect">
            <a:avLst/>
          </a:prstGeom>
          <a:noFill/>
          <a:ln/>
        </p:spPr>
        <p:txBody>
          <a:bodyPr wrap="square" lIns="0" tIns="0" rIns="0" bIns="0" rtlCol="0" anchor="ctr"/>
          <a:lstStyle/>
          <a:p>
            <a:pPr algn="r" indent="0" marL="0">
              <a:lnSpc>
                <a:spcPts val="1500"/>
              </a:lnSpc>
              <a:buNone/>
            </a:pPr>
            <a:r>
              <a:rPr lang="en-US" sz="1250" b="1" dirty="0">
                <a:solidFill>
                  <a:srgbClr val="00786A"/>
                </a:solidFill>
                <a:latin typeface="Calibri" pitchFamily="34" charset="0"/>
                <a:ea typeface="Calibri" pitchFamily="34" charset="-122"/>
                <a:cs typeface="Calibri" pitchFamily="34" charset="-120"/>
              </a:rPr>
              <a:t>events back</a:t>
            </a:r>
            <a:endParaRPr lang="en-US" sz="1250" dirty="0"/>
          </a:p>
          <a:p>
            <a:pPr algn="r" indent="0" marL="0">
              <a:lnSpc>
                <a:spcPts val="1500"/>
              </a:lnSpc>
              <a:buNone/>
            </a:pPr>
            <a:r>
              <a:rPr lang="en-US" sz="1250" b="1" dirty="0">
                <a:solidFill>
                  <a:srgbClr val="00786A"/>
                </a:solidFill>
                <a:latin typeface="Calibri" pitchFamily="34" charset="0"/>
                <a:ea typeface="Calibri" pitchFamily="34" charset="-122"/>
                <a:cs typeface="Calibri" pitchFamily="34" charset="-120"/>
              </a:rPr>
              <a:t>to the parent</a:t>
            </a:r>
            <a:endParaRPr lang="en-US" sz="1250" dirty="0"/>
          </a:p>
        </p:txBody>
      </p:sp>
      <p:sp>
        <p:nvSpPr>
          <p:cNvPr id="39" name="Shape 37"/>
          <p:cNvSpPr/>
          <p:nvPr/>
        </p:nvSpPr>
        <p:spPr>
          <a:xfrm>
            <a:off x="10744200" y="5120640"/>
            <a:ext cx="548640" cy="0"/>
          </a:xfrm>
          <a:prstGeom prst="line">
            <a:avLst/>
          </a:prstGeom>
          <a:noFill/>
          <a:ln w="28575">
            <a:solidFill>
              <a:srgbClr val="00786A"/>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200" b="1" dirty="0">
                <a:solidFill>
                  <a:srgbClr val="0B1F3A"/>
                </a:solidFill>
                <a:latin typeface="Calibri" pitchFamily="34" charset="0"/>
                <a:ea typeface="Calibri" pitchFamily="34" charset="-122"/>
                <a:cs typeface="Calibri" pitchFamily="34" charset="-120"/>
              </a:rPr>
              <a:t>How It Works — Step by Step</a:t>
            </a:r>
            <a:endParaRPr lang="en-US" sz="3200" dirty="0"/>
          </a:p>
        </p:txBody>
      </p:sp>
      <p:sp>
        <p:nvSpPr>
          <p:cNvPr id="3" name="Shape 1"/>
          <p:cNvSpPr/>
          <p:nvPr/>
        </p:nvSpPr>
        <p:spPr>
          <a:xfrm>
            <a:off x="402336" y="1417320"/>
            <a:ext cx="3520440" cy="1828800"/>
          </a:xfrm>
          <a:prstGeom prst="roundRect">
            <a:avLst>
              <a:gd name="adj" fmla="val 4000"/>
            </a:avLst>
          </a:prstGeom>
          <a:solidFill>
            <a:srgbClr val="F1F5F9"/>
          </a:solidFill>
          <a:ln w="12700">
            <a:solidFill>
              <a:srgbClr val="D8E1E8"/>
            </a:solidFill>
            <a:prstDash val="solid"/>
          </a:ln>
        </p:spPr>
      </p:sp>
      <p:sp>
        <p:nvSpPr>
          <p:cNvPr id="4" name="Shape 2"/>
          <p:cNvSpPr/>
          <p:nvPr/>
        </p:nvSpPr>
        <p:spPr>
          <a:xfrm>
            <a:off x="658368" y="1673352"/>
            <a:ext cx="502920" cy="502920"/>
          </a:xfrm>
          <a:prstGeom prst="ellipse">
            <a:avLst/>
          </a:prstGeom>
          <a:solidFill>
            <a:srgbClr val="0B1F3A"/>
          </a:solidFill>
          <a:ln w="12700">
            <a:solidFill>
              <a:srgbClr val="0B1F3A"/>
            </a:solidFill>
            <a:prstDash val="solid"/>
          </a:ln>
        </p:spPr>
      </p:sp>
      <p:sp>
        <p:nvSpPr>
          <p:cNvPr id="5" name="Text 3"/>
          <p:cNvSpPr txBox="1"/>
          <p:nvPr/>
        </p:nvSpPr>
        <p:spPr>
          <a:xfrm>
            <a:off x="658368" y="1673352"/>
            <a:ext cx="502920" cy="502920"/>
          </a:xfrm>
          <a:prstGeom prst="rect">
            <a:avLst/>
          </a:prstGeom>
          <a:noFill/>
          <a:ln/>
        </p:spPr>
        <p:txBody>
          <a:bodyPr wrap="square" lIns="0" tIns="0" rIns="0" bIns="0" rtlCol="0" anchor="ctr"/>
          <a:lstStyle/>
          <a:p>
            <a:pPr algn="ctr" indent="0" marL="0">
              <a:buNone/>
            </a:pPr>
            <a:r>
              <a:rPr lang="en-US" sz="1900" b="1" dirty="0">
                <a:solidFill>
                  <a:srgbClr val="00A896"/>
                </a:solidFill>
                <a:latin typeface="Calibri" pitchFamily="34" charset="0"/>
                <a:ea typeface="Calibri" pitchFamily="34" charset="-122"/>
                <a:cs typeface="Calibri" pitchFamily="34" charset="-120"/>
              </a:rPr>
              <a:t>1</a:t>
            </a:r>
            <a:endParaRPr lang="en-US" sz="1900" dirty="0"/>
          </a:p>
        </p:txBody>
      </p:sp>
      <p:sp>
        <p:nvSpPr>
          <p:cNvPr id="6" name="Text 4"/>
          <p:cNvSpPr txBox="1"/>
          <p:nvPr/>
        </p:nvSpPr>
        <p:spPr>
          <a:xfrm>
            <a:off x="1298448" y="1673352"/>
            <a:ext cx="2368296" cy="50292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Program starts</a:t>
            </a:r>
            <a:endParaRPr lang="en-US" sz="1900" dirty="0"/>
          </a:p>
        </p:txBody>
      </p:sp>
      <p:sp>
        <p:nvSpPr>
          <p:cNvPr id="7" name="Text 5"/>
          <p:cNvSpPr txBox="1"/>
          <p:nvPr/>
        </p:nvSpPr>
        <p:spPr>
          <a:xfrm>
            <a:off x="676656" y="2286000"/>
            <a:ext cx="2971800" cy="777240"/>
          </a:xfrm>
          <a:prstGeom prst="rect">
            <a:avLst/>
          </a:prstGeom>
          <a:noFill/>
          <a:ln/>
        </p:spPr>
        <p:txBody>
          <a:bodyPr wrap="square" lIns="0" tIns="0" rIns="0" bIns="0" rtlCol="0" anchor="t"/>
          <a:lstStyle/>
          <a:p>
            <a:pPr indent="0" marL="0">
              <a:lnSpc>
                <a:spcPts val="2100"/>
              </a:lnSpc>
              <a:buNone/>
            </a:pPr>
            <a:r>
              <a:rPr lang="en-US" sz="1600" dirty="0">
                <a:solidFill>
                  <a:srgbClr val="4F6275"/>
                </a:solidFill>
                <a:latin typeface="Calibri" pitchFamily="34" charset="0"/>
                <a:ea typeface="Calibri" pitchFamily="34" charset="-122"/>
                <a:cs typeface="Calibri" pitchFamily="34" charset="-120"/>
              </a:rPr>
              <a:t>The shell runs our program, which becomes the </a:t>
            </a:r>
            <a:pPr indent="0" marL="0">
              <a:lnSpc>
                <a:spcPts val="2100"/>
              </a:lnSpc>
              <a:buNone/>
            </a:pPr>
            <a:r>
              <a:rPr lang="en-US" sz="1600" b="1" dirty="0">
                <a:solidFill>
                  <a:srgbClr val="0B1F3A"/>
                </a:solidFill>
                <a:latin typeface="Calibri" pitchFamily="34" charset="0"/>
                <a:ea typeface="Calibri" pitchFamily="34" charset="-122"/>
                <a:cs typeface="Calibri" pitchFamily="34" charset="-120"/>
              </a:rPr>
              <a:t>parent process</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4334256" y="1417320"/>
            <a:ext cx="3520440" cy="1828800"/>
          </a:xfrm>
          <a:prstGeom prst="roundRect">
            <a:avLst>
              <a:gd name="adj" fmla="val 4000"/>
            </a:avLst>
          </a:prstGeom>
          <a:solidFill>
            <a:srgbClr val="F1F5F9"/>
          </a:solidFill>
          <a:ln w="12700">
            <a:solidFill>
              <a:srgbClr val="D8E1E8"/>
            </a:solidFill>
            <a:prstDash val="solid"/>
          </a:ln>
        </p:spPr>
      </p:sp>
      <p:sp>
        <p:nvSpPr>
          <p:cNvPr id="9" name="Shape 7"/>
          <p:cNvSpPr/>
          <p:nvPr/>
        </p:nvSpPr>
        <p:spPr>
          <a:xfrm>
            <a:off x="4590288" y="1673352"/>
            <a:ext cx="502920" cy="502920"/>
          </a:xfrm>
          <a:prstGeom prst="ellipse">
            <a:avLst/>
          </a:prstGeom>
          <a:solidFill>
            <a:srgbClr val="0B1F3A"/>
          </a:solidFill>
          <a:ln w="12700">
            <a:solidFill>
              <a:srgbClr val="0B1F3A"/>
            </a:solidFill>
            <a:prstDash val="solid"/>
          </a:ln>
        </p:spPr>
      </p:sp>
      <p:sp>
        <p:nvSpPr>
          <p:cNvPr id="10" name="Text 8"/>
          <p:cNvSpPr txBox="1"/>
          <p:nvPr/>
        </p:nvSpPr>
        <p:spPr>
          <a:xfrm>
            <a:off x="4590288" y="1673352"/>
            <a:ext cx="502920" cy="502920"/>
          </a:xfrm>
          <a:prstGeom prst="rect">
            <a:avLst/>
          </a:prstGeom>
          <a:noFill/>
          <a:ln/>
        </p:spPr>
        <p:txBody>
          <a:bodyPr wrap="square" lIns="0" tIns="0" rIns="0" bIns="0" rtlCol="0" anchor="ctr"/>
          <a:lstStyle/>
          <a:p>
            <a:pPr algn="ctr" indent="0" marL="0">
              <a:buNone/>
            </a:pPr>
            <a:r>
              <a:rPr lang="en-US" sz="1900" b="1" dirty="0">
                <a:solidFill>
                  <a:srgbClr val="00A896"/>
                </a:solidFill>
                <a:latin typeface="Calibri" pitchFamily="34" charset="0"/>
                <a:ea typeface="Calibri" pitchFamily="34" charset="-122"/>
                <a:cs typeface="Calibri" pitchFamily="34" charset="-120"/>
              </a:rPr>
              <a:t>2</a:t>
            </a:r>
            <a:endParaRPr lang="en-US" sz="1900" dirty="0"/>
          </a:p>
        </p:txBody>
      </p:sp>
      <p:sp>
        <p:nvSpPr>
          <p:cNvPr id="11" name="Text 9"/>
          <p:cNvSpPr txBox="1"/>
          <p:nvPr/>
        </p:nvSpPr>
        <p:spPr>
          <a:xfrm>
            <a:off x="5230368" y="1673352"/>
            <a:ext cx="2368296" cy="50292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Children are created</a:t>
            </a:r>
            <a:endParaRPr lang="en-US" sz="1900" dirty="0"/>
          </a:p>
        </p:txBody>
      </p:sp>
      <p:sp>
        <p:nvSpPr>
          <p:cNvPr id="12" name="Text 10"/>
          <p:cNvSpPr txBox="1"/>
          <p:nvPr/>
        </p:nvSpPr>
        <p:spPr>
          <a:xfrm>
            <a:off x="4608576" y="2286000"/>
            <a:ext cx="2971800" cy="777240"/>
          </a:xfrm>
          <a:prstGeom prst="rect">
            <a:avLst/>
          </a:prstGeom>
          <a:noFill/>
          <a:ln/>
        </p:spPr>
        <p:txBody>
          <a:bodyPr wrap="square" lIns="0" tIns="0" rIns="0" bIns="0" rtlCol="0" anchor="t"/>
          <a:lstStyle/>
          <a:p>
            <a:pPr indent="0" marL="0">
              <a:lnSpc>
                <a:spcPts val="2100"/>
              </a:lnSpc>
              <a:buNone/>
            </a:pPr>
            <a:r>
              <a:rPr lang="en-US" sz="1600" dirty="0">
                <a:solidFill>
                  <a:srgbClr val="4F6275"/>
                </a:solidFill>
                <a:latin typeface="Calibri" pitchFamily="34" charset="0"/>
                <a:ea typeface="Calibri" pitchFamily="34" charset="-122"/>
                <a:cs typeface="Calibri" pitchFamily="34" charset="-120"/>
              </a:rPr>
              <a:t>The parent calls </a:t>
            </a:r>
            <a:pPr indent="0" marL="0">
              <a:lnSpc>
                <a:spcPts val="2100"/>
              </a:lnSpc>
              <a:buNone/>
            </a:pPr>
            <a:r>
              <a:rPr lang="en-US" sz="1600" b="1" dirty="0">
                <a:solidFill>
                  <a:srgbClr val="0B1F3A"/>
                </a:solidFill>
                <a:latin typeface="Courier New" pitchFamily="34" charset="0"/>
                <a:ea typeface="Courier New" pitchFamily="34" charset="-122"/>
                <a:cs typeface="Courier New" pitchFamily="34" charset="-120"/>
              </a:rPr>
              <a:t>fork()</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 three times and puts the children in one process group.</a:t>
            </a:r>
            <a:endParaRPr lang="en-US" sz="1600" dirty="0"/>
          </a:p>
        </p:txBody>
      </p:sp>
      <p:sp>
        <p:nvSpPr>
          <p:cNvPr id="13" name="Shape 11"/>
          <p:cNvSpPr/>
          <p:nvPr/>
        </p:nvSpPr>
        <p:spPr>
          <a:xfrm>
            <a:off x="8266176" y="1417320"/>
            <a:ext cx="3520440" cy="1828800"/>
          </a:xfrm>
          <a:prstGeom prst="roundRect">
            <a:avLst>
              <a:gd name="adj" fmla="val 4000"/>
            </a:avLst>
          </a:prstGeom>
          <a:solidFill>
            <a:srgbClr val="F1F5F9"/>
          </a:solidFill>
          <a:ln w="12700">
            <a:solidFill>
              <a:srgbClr val="D8E1E8"/>
            </a:solidFill>
            <a:prstDash val="solid"/>
          </a:ln>
        </p:spPr>
      </p:sp>
      <p:sp>
        <p:nvSpPr>
          <p:cNvPr id="14" name="Shape 12"/>
          <p:cNvSpPr/>
          <p:nvPr/>
        </p:nvSpPr>
        <p:spPr>
          <a:xfrm>
            <a:off x="8522208" y="1673352"/>
            <a:ext cx="502920" cy="502920"/>
          </a:xfrm>
          <a:prstGeom prst="ellipse">
            <a:avLst/>
          </a:prstGeom>
          <a:solidFill>
            <a:srgbClr val="0B1F3A"/>
          </a:solidFill>
          <a:ln w="12700">
            <a:solidFill>
              <a:srgbClr val="0B1F3A"/>
            </a:solidFill>
            <a:prstDash val="solid"/>
          </a:ln>
        </p:spPr>
      </p:sp>
      <p:sp>
        <p:nvSpPr>
          <p:cNvPr id="15" name="Text 13"/>
          <p:cNvSpPr txBox="1"/>
          <p:nvPr/>
        </p:nvSpPr>
        <p:spPr>
          <a:xfrm>
            <a:off x="8522208" y="1673352"/>
            <a:ext cx="502920" cy="502920"/>
          </a:xfrm>
          <a:prstGeom prst="rect">
            <a:avLst/>
          </a:prstGeom>
          <a:noFill/>
          <a:ln/>
        </p:spPr>
        <p:txBody>
          <a:bodyPr wrap="square" lIns="0" tIns="0" rIns="0" bIns="0" rtlCol="0" anchor="ctr"/>
          <a:lstStyle/>
          <a:p>
            <a:pPr algn="ctr" indent="0" marL="0">
              <a:buNone/>
            </a:pPr>
            <a:r>
              <a:rPr lang="en-US" sz="1900" b="1" dirty="0">
                <a:solidFill>
                  <a:srgbClr val="00A896"/>
                </a:solidFill>
                <a:latin typeface="Calibri" pitchFamily="34" charset="0"/>
                <a:ea typeface="Calibri" pitchFamily="34" charset="-122"/>
                <a:cs typeface="Calibri" pitchFamily="34" charset="-120"/>
              </a:rPr>
              <a:t>3</a:t>
            </a:r>
            <a:endParaRPr lang="en-US" sz="1900" dirty="0"/>
          </a:p>
        </p:txBody>
      </p:sp>
      <p:sp>
        <p:nvSpPr>
          <p:cNvPr id="16" name="Text 14"/>
          <p:cNvSpPr txBox="1"/>
          <p:nvPr/>
        </p:nvSpPr>
        <p:spPr>
          <a:xfrm>
            <a:off x="9162288" y="1673352"/>
            <a:ext cx="2368296" cy="50292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Handlers are installed</a:t>
            </a:r>
            <a:endParaRPr lang="en-US" sz="1900" dirty="0"/>
          </a:p>
        </p:txBody>
      </p:sp>
      <p:sp>
        <p:nvSpPr>
          <p:cNvPr id="17" name="Text 15"/>
          <p:cNvSpPr txBox="1"/>
          <p:nvPr/>
        </p:nvSpPr>
        <p:spPr>
          <a:xfrm>
            <a:off x="8540496" y="2286000"/>
            <a:ext cx="2971800" cy="777240"/>
          </a:xfrm>
          <a:prstGeom prst="rect">
            <a:avLst/>
          </a:prstGeom>
          <a:noFill/>
          <a:ln/>
        </p:spPr>
        <p:txBody>
          <a:bodyPr wrap="square" lIns="0" tIns="0" rIns="0" bIns="0" rtlCol="0" anchor="t"/>
          <a:lstStyle/>
          <a:p>
            <a:pPr indent="0" marL="0">
              <a:lnSpc>
                <a:spcPts val="2100"/>
              </a:lnSpc>
              <a:buNone/>
            </a:pPr>
            <a:r>
              <a:rPr lang="en-US" sz="1600" dirty="0">
                <a:solidFill>
                  <a:srgbClr val="4F6275"/>
                </a:solidFill>
                <a:latin typeface="Calibri" pitchFamily="34" charset="0"/>
                <a:ea typeface="Calibri" pitchFamily="34" charset="-122"/>
                <a:cs typeface="Calibri" pitchFamily="34" charset="-120"/>
              </a:rPr>
              <a:t>Each child registers what to do for each signal using </a:t>
            </a:r>
            <a:pPr indent="0" marL="0">
              <a:lnSpc>
                <a:spcPts val="2100"/>
              </a:lnSpc>
              <a:buNone/>
            </a:pPr>
            <a:r>
              <a:rPr lang="en-US" sz="1600" b="1" dirty="0">
                <a:solidFill>
                  <a:srgbClr val="0B1F3A"/>
                </a:solidFill>
                <a:latin typeface="Courier New" pitchFamily="34" charset="0"/>
                <a:ea typeface="Courier New" pitchFamily="34" charset="-122"/>
                <a:cs typeface="Courier New" pitchFamily="34" charset="-120"/>
              </a:rPr>
              <a:t>sigaction()</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402336" y="3611880"/>
            <a:ext cx="3520440" cy="1828800"/>
          </a:xfrm>
          <a:prstGeom prst="roundRect">
            <a:avLst>
              <a:gd name="adj" fmla="val 4000"/>
            </a:avLst>
          </a:prstGeom>
          <a:solidFill>
            <a:srgbClr val="E6F4F1"/>
          </a:solidFill>
          <a:ln w="12700">
            <a:solidFill>
              <a:srgbClr val="C7E4DD"/>
            </a:solidFill>
            <a:prstDash val="solid"/>
          </a:ln>
        </p:spPr>
      </p:sp>
      <p:sp>
        <p:nvSpPr>
          <p:cNvPr id="19" name="Shape 17"/>
          <p:cNvSpPr/>
          <p:nvPr/>
        </p:nvSpPr>
        <p:spPr>
          <a:xfrm>
            <a:off x="658368" y="3867912"/>
            <a:ext cx="502920" cy="502920"/>
          </a:xfrm>
          <a:prstGeom prst="ellipse">
            <a:avLst/>
          </a:prstGeom>
          <a:solidFill>
            <a:srgbClr val="0B1F3A"/>
          </a:solidFill>
          <a:ln w="12700">
            <a:solidFill>
              <a:srgbClr val="0B1F3A"/>
            </a:solidFill>
            <a:prstDash val="solid"/>
          </a:ln>
        </p:spPr>
      </p:sp>
      <p:sp>
        <p:nvSpPr>
          <p:cNvPr id="20" name="Text 18"/>
          <p:cNvSpPr txBox="1"/>
          <p:nvPr/>
        </p:nvSpPr>
        <p:spPr>
          <a:xfrm>
            <a:off x="658368" y="3867912"/>
            <a:ext cx="502920" cy="502920"/>
          </a:xfrm>
          <a:prstGeom prst="rect">
            <a:avLst/>
          </a:prstGeom>
          <a:noFill/>
          <a:ln/>
        </p:spPr>
        <p:txBody>
          <a:bodyPr wrap="square" lIns="0" tIns="0" rIns="0" bIns="0" rtlCol="0" anchor="ctr"/>
          <a:lstStyle/>
          <a:p>
            <a:pPr algn="ctr" indent="0" marL="0">
              <a:buNone/>
            </a:pPr>
            <a:r>
              <a:rPr lang="en-US" sz="1900" b="1" dirty="0">
                <a:solidFill>
                  <a:srgbClr val="00A896"/>
                </a:solidFill>
                <a:latin typeface="Calibri" pitchFamily="34" charset="0"/>
                <a:ea typeface="Calibri" pitchFamily="34" charset="-122"/>
                <a:cs typeface="Calibri" pitchFamily="34" charset="-120"/>
              </a:rPr>
              <a:t>4</a:t>
            </a:r>
            <a:endParaRPr lang="en-US" sz="1900" dirty="0"/>
          </a:p>
        </p:txBody>
      </p:sp>
      <p:sp>
        <p:nvSpPr>
          <p:cNvPr id="21" name="Text 19"/>
          <p:cNvSpPr txBox="1"/>
          <p:nvPr/>
        </p:nvSpPr>
        <p:spPr>
          <a:xfrm>
            <a:off x="1298448" y="3867912"/>
            <a:ext cx="2368296" cy="50292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Command is given</a:t>
            </a:r>
            <a:endParaRPr lang="en-US" sz="1900" dirty="0"/>
          </a:p>
        </p:txBody>
      </p:sp>
      <p:sp>
        <p:nvSpPr>
          <p:cNvPr id="22" name="Text 20"/>
          <p:cNvSpPr txBox="1"/>
          <p:nvPr/>
        </p:nvSpPr>
        <p:spPr>
          <a:xfrm>
            <a:off x="676656" y="4480560"/>
            <a:ext cx="2971800" cy="777240"/>
          </a:xfrm>
          <a:prstGeom prst="rect">
            <a:avLst/>
          </a:prstGeom>
          <a:noFill/>
          <a:ln/>
        </p:spPr>
        <p:txBody>
          <a:bodyPr wrap="square" lIns="0" tIns="0" rIns="0" bIns="0" rtlCol="0" anchor="t"/>
          <a:lstStyle/>
          <a:p>
            <a:pPr indent="0" marL="0">
              <a:lnSpc>
                <a:spcPts val="2100"/>
              </a:lnSpc>
              <a:buNone/>
            </a:pPr>
            <a:r>
              <a:rPr lang="en-US" sz="1600" dirty="0">
                <a:solidFill>
                  <a:srgbClr val="4F6275"/>
                </a:solidFill>
                <a:latin typeface="Calibri" pitchFamily="34" charset="0"/>
                <a:ea typeface="Calibri" pitchFamily="34" charset="-122"/>
                <a:cs typeface="Calibri" pitchFamily="34" charset="-120"/>
              </a:rPr>
              <a:t>The user picks an action from the menu or writes it into the </a:t>
            </a:r>
            <a:pPr indent="0" marL="0">
              <a:lnSpc>
                <a:spcPts val="2100"/>
              </a:lnSpc>
              <a:buNone/>
            </a:pPr>
            <a:r>
              <a:rPr lang="en-US" sz="1600" b="1" dirty="0">
                <a:solidFill>
                  <a:srgbClr val="0B1F3A"/>
                </a:solidFill>
                <a:latin typeface="Courier New" pitchFamily="34" charset="0"/>
                <a:ea typeface="Courier New" pitchFamily="34" charset="-122"/>
                <a:cs typeface="Courier New" pitchFamily="34" charset="-120"/>
              </a:rPr>
              <a:t>FIFO</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4334256" y="3611880"/>
            <a:ext cx="3520440" cy="1828800"/>
          </a:xfrm>
          <a:prstGeom prst="roundRect">
            <a:avLst>
              <a:gd name="adj" fmla="val 4000"/>
            </a:avLst>
          </a:prstGeom>
          <a:solidFill>
            <a:srgbClr val="E6F4F1"/>
          </a:solidFill>
          <a:ln w="12700">
            <a:solidFill>
              <a:srgbClr val="C7E4DD"/>
            </a:solidFill>
            <a:prstDash val="solid"/>
          </a:ln>
        </p:spPr>
      </p:sp>
      <p:sp>
        <p:nvSpPr>
          <p:cNvPr id="24" name="Shape 22"/>
          <p:cNvSpPr/>
          <p:nvPr/>
        </p:nvSpPr>
        <p:spPr>
          <a:xfrm>
            <a:off x="4590288" y="3867912"/>
            <a:ext cx="502920" cy="502920"/>
          </a:xfrm>
          <a:prstGeom prst="ellipse">
            <a:avLst/>
          </a:prstGeom>
          <a:solidFill>
            <a:srgbClr val="0B1F3A"/>
          </a:solidFill>
          <a:ln w="12700">
            <a:solidFill>
              <a:srgbClr val="0B1F3A"/>
            </a:solidFill>
            <a:prstDash val="solid"/>
          </a:ln>
        </p:spPr>
      </p:sp>
      <p:sp>
        <p:nvSpPr>
          <p:cNvPr id="25" name="Text 23"/>
          <p:cNvSpPr txBox="1"/>
          <p:nvPr/>
        </p:nvSpPr>
        <p:spPr>
          <a:xfrm>
            <a:off x="4590288" y="3867912"/>
            <a:ext cx="502920" cy="502920"/>
          </a:xfrm>
          <a:prstGeom prst="rect">
            <a:avLst/>
          </a:prstGeom>
          <a:noFill/>
          <a:ln/>
        </p:spPr>
        <p:txBody>
          <a:bodyPr wrap="square" lIns="0" tIns="0" rIns="0" bIns="0" rtlCol="0" anchor="ctr"/>
          <a:lstStyle/>
          <a:p>
            <a:pPr algn="ctr" indent="0" marL="0">
              <a:buNone/>
            </a:pPr>
            <a:r>
              <a:rPr lang="en-US" sz="1900" b="1" dirty="0">
                <a:solidFill>
                  <a:srgbClr val="00A896"/>
                </a:solidFill>
                <a:latin typeface="Calibri" pitchFamily="34" charset="0"/>
                <a:ea typeface="Calibri" pitchFamily="34" charset="-122"/>
                <a:cs typeface="Calibri" pitchFamily="34" charset="-120"/>
              </a:rPr>
              <a:t>5</a:t>
            </a:r>
            <a:endParaRPr lang="en-US" sz="1900" dirty="0"/>
          </a:p>
        </p:txBody>
      </p:sp>
      <p:sp>
        <p:nvSpPr>
          <p:cNvPr id="26" name="Text 24"/>
          <p:cNvSpPr txBox="1"/>
          <p:nvPr/>
        </p:nvSpPr>
        <p:spPr>
          <a:xfrm>
            <a:off x="5230368" y="3867912"/>
            <a:ext cx="2368296" cy="50292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Signal is delivered</a:t>
            </a:r>
            <a:endParaRPr lang="en-US" sz="1900" dirty="0"/>
          </a:p>
        </p:txBody>
      </p:sp>
      <p:sp>
        <p:nvSpPr>
          <p:cNvPr id="27" name="Text 25"/>
          <p:cNvSpPr txBox="1"/>
          <p:nvPr/>
        </p:nvSpPr>
        <p:spPr>
          <a:xfrm>
            <a:off x="4608576" y="4480560"/>
            <a:ext cx="2971800" cy="777240"/>
          </a:xfrm>
          <a:prstGeom prst="rect">
            <a:avLst/>
          </a:prstGeom>
          <a:noFill/>
          <a:ln/>
        </p:spPr>
        <p:txBody>
          <a:bodyPr wrap="square" lIns="0" tIns="0" rIns="0" bIns="0" rtlCol="0" anchor="t"/>
          <a:lstStyle/>
          <a:p>
            <a:pPr indent="0" marL="0">
              <a:lnSpc>
                <a:spcPts val="2100"/>
              </a:lnSpc>
              <a:buNone/>
            </a:pPr>
            <a:r>
              <a:rPr lang="en-US" sz="1600" dirty="0">
                <a:solidFill>
                  <a:srgbClr val="4F6275"/>
                </a:solidFill>
                <a:latin typeface="Calibri" pitchFamily="34" charset="0"/>
                <a:ea typeface="Calibri" pitchFamily="34" charset="-122"/>
                <a:cs typeface="Calibri" pitchFamily="34" charset="-120"/>
              </a:rPr>
              <a:t>The parent calls </a:t>
            </a:r>
            <a:pPr indent="0" marL="0">
              <a:lnSpc>
                <a:spcPts val="2100"/>
              </a:lnSpc>
              <a:buNone/>
            </a:pPr>
            <a:r>
              <a:rPr lang="en-US" sz="1600" b="1" dirty="0">
                <a:solidFill>
                  <a:srgbClr val="0B1F3A"/>
                </a:solidFill>
                <a:latin typeface="Courier New" pitchFamily="34" charset="0"/>
                <a:ea typeface="Courier New" pitchFamily="34" charset="-122"/>
                <a:cs typeface="Courier New" pitchFamily="34" charset="-120"/>
              </a:rPr>
              <a:t>kill()</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 and the </a:t>
            </a:r>
            <a:pPr indent="0" marL="0">
              <a:lnSpc>
                <a:spcPts val="2100"/>
              </a:lnSpc>
              <a:buNone/>
            </a:pPr>
            <a:r>
              <a:rPr lang="en-US" sz="1600" b="1" dirty="0">
                <a:solidFill>
                  <a:srgbClr val="0B1F3A"/>
                </a:solidFill>
                <a:latin typeface="Calibri" pitchFamily="34" charset="0"/>
                <a:ea typeface="Calibri" pitchFamily="34" charset="-122"/>
                <a:cs typeface="Calibri" pitchFamily="34" charset="-120"/>
              </a:rPr>
              <a:t>kernel delivers the signal</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 to the target.</a:t>
            </a:r>
            <a:endParaRPr lang="en-US" sz="1600" dirty="0"/>
          </a:p>
        </p:txBody>
      </p:sp>
      <p:sp>
        <p:nvSpPr>
          <p:cNvPr id="28" name="Shape 26"/>
          <p:cNvSpPr/>
          <p:nvPr/>
        </p:nvSpPr>
        <p:spPr>
          <a:xfrm>
            <a:off x="8266176" y="3611880"/>
            <a:ext cx="3520440" cy="1828800"/>
          </a:xfrm>
          <a:prstGeom prst="roundRect">
            <a:avLst>
              <a:gd name="adj" fmla="val 4000"/>
            </a:avLst>
          </a:prstGeom>
          <a:solidFill>
            <a:srgbClr val="E6F4F1"/>
          </a:solidFill>
          <a:ln w="12700">
            <a:solidFill>
              <a:srgbClr val="C7E4DD"/>
            </a:solidFill>
            <a:prstDash val="solid"/>
          </a:ln>
        </p:spPr>
      </p:sp>
      <p:sp>
        <p:nvSpPr>
          <p:cNvPr id="29" name="Shape 27"/>
          <p:cNvSpPr/>
          <p:nvPr/>
        </p:nvSpPr>
        <p:spPr>
          <a:xfrm>
            <a:off x="8522208" y="3867912"/>
            <a:ext cx="502920" cy="502920"/>
          </a:xfrm>
          <a:prstGeom prst="ellipse">
            <a:avLst/>
          </a:prstGeom>
          <a:solidFill>
            <a:srgbClr val="0B1F3A"/>
          </a:solidFill>
          <a:ln w="12700">
            <a:solidFill>
              <a:srgbClr val="0B1F3A"/>
            </a:solidFill>
            <a:prstDash val="solid"/>
          </a:ln>
        </p:spPr>
      </p:sp>
      <p:sp>
        <p:nvSpPr>
          <p:cNvPr id="30" name="Text 28"/>
          <p:cNvSpPr txBox="1"/>
          <p:nvPr/>
        </p:nvSpPr>
        <p:spPr>
          <a:xfrm>
            <a:off x="8522208" y="3867912"/>
            <a:ext cx="502920" cy="502920"/>
          </a:xfrm>
          <a:prstGeom prst="rect">
            <a:avLst/>
          </a:prstGeom>
          <a:noFill/>
          <a:ln/>
        </p:spPr>
        <p:txBody>
          <a:bodyPr wrap="square" lIns="0" tIns="0" rIns="0" bIns="0" rtlCol="0" anchor="ctr"/>
          <a:lstStyle/>
          <a:p>
            <a:pPr algn="ctr" indent="0" marL="0">
              <a:buNone/>
            </a:pPr>
            <a:r>
              <a:rPr lang="en-US" sz="1900" b="1" dirty="0">
                <a:solidFill>
                  <a:srgbClr val="00A896"/>
                </a:solidFill>
                <a:latin typeface="Calibri" pitchFamily="34" charset="0"/>
                <a:ea typeface="Calibri" pitchFamily="34" charset="-122"/>
                <a:cs typeface="Calibri" pitchFamily="34" charset="-120"/>
              </a:rPr>
              <a:t>6</a:t>
            </a:r>
            <a:endParaRPr lang="en-US" sz="1900" dirty="0"/>
          </a:p>
        </p:txBody>
      </p:sp>
      <p:sp>
        <p:nvSpPr>
          <p:cNvPr id="31" name="Text 29"/>
          <p:cNvSpPr txBox="1"/>
          <p:nvPr/>
        </p:nvSpPr>
        <p:spPr>
          <a:xfrm>
            <a:off x="9162288" y="3867912"/>
            <a:ext cx="2368296" cy="50292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Result is verified</a:t>
            </a:r>
            <a:endParaRPr lang="en-US" sz="1900" dirty="0"/>
          </a:p>
        </p:txBody>
      </p:sp>
      <p:sp>
        <p:nvSpPr>
          <p:cNvPr id="32" name="Text 30"/>
          <p:cNvSpPr txBox="1"/>
          <p:nvPr/>
        </p:nvSpPr>
        <p:spPr>
          <a:xfrm>
            <a:off x="8540496" y="4480560"/>
            <a:ext cx="2971800" cy="777240"/>
          </a:xfrm>
          <a:prstGeom prst="rect">
            <a:avLst/>
          </a:prstGeom>
          <a:noFill/>
          <a:ln/>
        </p:spPr>
        <p:txBody>
          <a:bodyPr wrap="square" lIns="0" tIns="0" rIns="0" bIns="0" rtlCol="0" anchor="t"/>
          <a:lstStyle/>
          <a:p>
            <a:pPr indent="0" marL="0">
              <a:lnSpc>
                <a:spcPts val="2100"/>
              </a:lnSpc>
              <a:buNone/>
            </a:pPr>
            <a:r>
              <a:rPr lang="en-US" sz="1600" dirty="0">
                <a:solidFill>
                  <a:srgbClr val="4F6275"/>
                </a:solidFill>
                <a:latin typeface="Calibri" pitchFamily="34" charset="0"/>
                <a:ea typeface="Calibri" pitchFamily="34" charset="-122"/>
                <a:cs typeface="Calibri" pitchFamily="34" charset="-120"/>
              </a:rPr>
              <a:t>The child reports through the pipe; the parent checks the state and </a:t>
            </a:r>
            <a:pPr indent="0" marL="0">
              <a:lnSpc>
                <a:spcPts val="2100"/>
              </a:lnSpc>
              <a:buNone/>
            </a:pPr>
            <a:r>
              <a:rPr lang="en-US" sz="1600" b="1" dirty="0">
                <a:solidFill>
                  <a:srgbClr val="0B1F3A"/>
                </a:solidFill>
                <a:latin typeface="Calibri" pitchFamily="34" charset="0"/>
                <a:ea typeface="Calibri" pitchFamily="34" charset="-122"/>
                <a:cs typeface="Calibri" pitchFamily="34" charset="-120"/>
              </a:rPr>
              <a:t>reaps it when it exits</a:t>
            </a:r>
            <a:pPr indent="0" marL="0">
              <a:lnSpc>
                <a:spcPts val="2100"/>
              </a:lnSpc>
              <a:buNone/>
            </a:pPr>
            <a:r>
              <a:rPr lang="en-US" sz="1600" dirty="0">
                <a:solidFill>
                  <a:srgbClr val="4F6275"/>
                </a:solidFill>
                <a:latin typeface="Calibri" pitchFamily="34" charset="0"/>
                <a:ea typeface="Calibri" pitchFamily="34" charset="-122"/>
                <a:cs typeface="Calibri" pitchFamily="34" charset="-120"/>
              </a:rPr>
              <a:t>.</a:t>
            </a:r>
            <a:endParaRPr lang="en-US" sz="1600" dirty="0"/>
          </a:p>
        </p:txBody>
      </p:sp>
      <p:sp>
        <p:nvSpPr>
          <p:cNvPr id="33" name="Text 31"/>
          <p:cNvSpPr txBox="1"/>
          <p:nvPr/>
        </p:nvSpPr>
        <p:spPr>
          <a:xfrm>
            <a:off x="548640" y="5852160"/>
            <a:ext cx="11091672" cy="365760"/>
          </a:xfrm>
          <a:prstGeom prst="rect">
            <a:avLst/>
          </a:prstGeom>
          <a:noFill/>
          <a:ln/>
        </p:spPr>
        <p:txBody>
          <a:bodyPr wrap="square" lIns="0" tIns="0" rIns="0" bIns="0" rtlCol="0" anchor="ctr"/>
          <a:lstStyle/>
          <a:p>
            <a:pPr algn="ctr" indent="0" marL="0">
              <a:buNone/>
            </a:pPr>
            <a:r>
              <a:rPr lang="en-US" sz="1500" i="1" dirty="0">
                <a:solidFill>
                  <a:srgbClr val="4F6275"/>
                </a:solidFill>
                <a:latin typeface="Calibri" pitchFamily="34" charset="0"/>
                <a:ea typeface="Calibri" pitchFamily="34" charset="-122"/>
                <a:cs typeface="Calibri" pitchFamily="34" charset="-120"/>
              </a:rPr>
              <a:t>The same six steps repeat for every command the user gives.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200" b="1" dirty="0">
                <a:solidFill>
                  <a:srgbClr val="0B1F3A"/>
                </a:solidFill>
                <a:latin typeface="Calibri" pitchFamily="34" charset="0"/>
                <a:ea typeface="Calibri" pitchFamily="34" charset="-122"/>
                <a:cs typeface="Calibri" pitchFamily="34" charset="-120"/>
              </a:rPr>
              <a:t>Signals Used in the Project</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914400"/>
        </p:xfrm>
        <a:graphic>
          <a:graphicData uri="http://schemas.openxmlformats.org/drawingml/2006/table">
            <a:tbl>
              <a:tblPr/>
              <a:tblGrid>
                <a:gridCol w="1691640"/>
                <a:gridCol w="2011680"/>
                <a:gridCol w="3520440"/>
                <a:gridCol w="3867912"/>
              </a:tblGrid>
              <a:tr h="566928">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Signal</a:t>
                      </a:r>
                      <a:endParaRPr lang="en-US" sz="16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0B1F3A"/>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From → To</a:t>
                      </a:r>
                      <a:endParaRPr lang="en-US" sz="16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0B1F3A"/>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Purpose</a:t>
                      </a:r>
                      <a:endParaRPr lang="en-US" sz="16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0B1F3A"/>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What the receiver does</a:t>
                      </a:r>
                      <a:endParaRPr lang="en-US" sz="16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0B1F3A"/>
                    </a:solidFill>
                  </a:tcPr>
                </a:tc>
              </a:tr>
              <a:tr h="566928">
                <a:tc>
                  <a:txBody>
                    <a:bodyPr/>
                    <a:lstStyle/>
                    <a:p>
                      <a:pPr indent="0" marL="0">
                        <a:buNone/>
                      </a:pPr>
                      <a:r>
                        <a:rPr lang="en-US" sz="1600" b="1" dirty="0">
                          <a:solidFill>
                            <a:srgbClr val="00786A"/>
                          </a:solidFill>
                          <a:latin typeface="Courier New" pitchFamily="34" charset="0"/>
                          <a:ea typeface="Courier New" pitchFamily="34" charset="-122"/>
                          <a:cs typeface="Courier New" pitchFamily="34" charset="-120"/>
                        </a:rPr>
                        <a:t>SIGUSR1</a:t>
                      </a:r>
                      <a:endParaRPr lang="en-US" sz="1600" dirty="0">
                        <a:latin typeface="Courier New" charset="0"/>
                        <a:ea typeface="Courier New" charset="0"/>
                        <a:cs typeface="Courier New"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500" dirty="0">
                          <a:solidFill>
                            <a:srgbClr val="4F6275"/>
                          </a:solidFill>
                          <a:latin typeface="Calibri" pitchFamily="34" charset="0"/>
                          <a:ea typeface="Calibri" pitchFamily="34" charset="-122"/>
                          <a:cs typeface="Calibri" pitchFamily="34" charset="-120"/>
                        </a:rPr>
                        <a:t>Parent → Child</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500" b="1" dirty="0">
                          <a:solidFill>
                            <a:srgbClr val="0B1F3A"/>
                          </a:solidFill>
                          <a:latin typeface="Calibri" pitchFamily="34" charset="0"/>
                          <a:ea typeface="Calibri" pitchFamily="34" charset="-122"/>
                          <a:cs typeface="Calibri" pitchFamily="34" charset="-120"/>
                        </a:rPr>
                        <a:t>Ask the child for its current status</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500" dirty="0">
                          <a:solidFill>
                            <a:srgbClr val="4F6275"/>
                          </a:solidFill>
                          <a:latin typeface="Calibri" pitchFamily="34" charset="0"/>
                          <a:ea typeface="Calibri" pitchFamily="34" charset="-122"/>
                          <a:cs typeface="Calibri" pitchFamily="34" charset="-120"/>
                        </a:rPr>
                        <a:t>Runs its own handler and reports back</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00786A"/>
                          </a:solidFill>
                          <a:latin typeface="Courier New" pitchFamily="34" charset="0"/>
                          <a:ea typeface="Courier New" pitchFamily="34" charset="-122"/>
                          <a:cs typeface="Courier New" pitchFamily="34" charset="-120"/>
                        </a:rPr>
                        <a:t>SIGUSR2</a:t>
                      </a:r>
                      <a:endParaRPr lang="en-US" sz="1600" dirty="0">
                        <a:latin typeface="Courier New" charset="0"/>
                        <a:ea typeface="Courier New" charset="0"/>
                        <a:cs typeface="Courier New"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1F5F9"/>
                    </a:solidFill>
                  </a:tcPr>
                </a:tc>
                <a:tc>
                  <a:txBody>
                    <a:bodyPr/>
                    <a:lstStyle/>
                    <a:p>
                      <a:pPr indent="0" marL="0">
                        <a:buNone/>
                      </a:pPr>
                      <a:r>
                        <a:rPr lang="en-US" sz="1500" dirty="0">
                          <a:solidFill>
                            <a:srgbClr val="4F6275"/>
                          </a:solidFill>
                          <a:latin typeface="Calibri" pitchFamily="34" charset="0"/>
                          <a:ea typeface="Calibri" pitchFamily="34" charset="-122"/>
                          <a:cs typeface="Calibri" pitchFamily="34" charset="-120"/>
                        </a:rPr>
                        <a:t>Parent → Child</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1F5F9"/>
                    </a:solidFill>
                  </a:tcPr>
                </a:tc>
                <a:tc>
                  <a:txBody>
                    <a:bodyPr/>
                    <a:lstStyle/>
                    <a:p>
                      <a:pPr indent="0" marL="0">
                        <a:buNone/>
                      </a:pPr>
                      <a:r>
                        <a:rPr lang="en-US" sz="1500" b="1" dirty="0">
                          <a:solidFill>
                            <a:srgbClr val="0B1F3A"/>
                          </a:solidFill>
                          <a:latin typeface="Calibri" pitchFamily="34" charset="0"/>
                          <a:ea typeface="Calibri" pitchFamily="34" charset="-122"/>
                          <a:cs typeface="Calibri" pitchFamily="34" charset="-120"/>
                        </a:rPr>
                        <a:t>Trigger one sample work event</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1F5F9"/>
                    </a:solidFill>
                  </a:tcPr>
                </a:tc>
                <a:tc>
                  <a:txBody>
                    <a:bodyPr/>
                    <a:lstStyle/>
                    <a:p>
                      <a:pPr indent="0" marL="0">
                        <a:buNone/>
                      </a:pPr>
                      <a:r>
                        <a:rPr lang="en-US" sz="1500" dirty="0">
                          <a:solidFill>
                            <a:srgbClr val="4F6275"/>
                          </a:solidFill>
                          <a:latin typeface="Calibri" pitchFamily="34" charset="0"/>
                          <a:ea typeface="Calibri" pitchFamily="34" charset="-122"/>
                          <a:cs typeface="Calibri" pitchFamily="34" charset="-120"/>
                        </a:rPr>
                        <a:t>Runs its own handler and reports back</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1F5F9"/>
                    </a:solidFill>
                  </a:tcPr>
                </a:tc>
              </a:tr>
              <a:tr h="566928">
                <a:tc>
                  <a:txBody>
                    <a:bodyPr/>
                    <a:lstStyle/>
                    <a:p>
                      <a:pPr indent="0" marL="0">
                        <a:buNone/>
                      </a:pPr>
                      <a:r>
                        <a:rPr lang="en-US" sz="1600" b="1" dirty="0">
                          <a:solidFill>
                            <a:srgbClr val="00786A"/>
                          </a:solidFill>
                          <a:latin typeface="Courier New" pitchFamily="34" charset="0"/>
                          <a:ea typeface="Courier New" pitchFamily="34" charset="-122"/>
                          <a:cs typeface="Courier New" pitchFamily="34" charset="-120"/>
                        </a:rPr>
                        <a:t>SIGSTOP</a:t>
                      </a:r>
                      <a:endParaRPr lang="en-US" sz="1600" dirty="0">
                        <a:latin typeface="Courier New" charset="0"/>
                        <a:ea typeface="Courier New" charset="0"/>
                        <a:cs typeface="Courier New"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500" dirty="0">
                          <a:solidFill>
                            <a:srgbClr val="4F6275"/>
                          </a:solidFill>
                          <a:latin typeface="Calibri" pitchFamily="34" charset="0"/>
                          <a:ea typeface="Calibri" pitchFamily="34" charset="-122"/>
                          <a:cs typeface="Calibri" pitchFamily="34" charset="-120"/>
                        </a:rPr>
                        <a:t>Parent → Child</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500" b="1" dirty="0">
                          <a:solidFill>
                            <a:srgbClr val="0B1F3A"/>
                          </a:solidFill>
                          <a:latin typeface="Calibri" pitchFamily="34" charset="0"/>
                          <a:ea typeface="Calibri" pitchFamily="34" charset="-122"/>
                          <a:cs typeface="Calibri" pitchFamily="34" charset="-120"/>
                        </a:rPr>
                        <a:t>Pause the child</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500" dirty="0">
                          <a:solidFill>
                            <a:srgbClr val="4F6275"/>
                          </a:solidFill>
                          <a:latin typeface="Calibri" pitchFamily="34" charset="0"/>
                          <a:ea typeface="Calibri" pitchFamily="34" charset="-122"/>
                          <a:cs typeface="Calibri" pitchFamily="34" charset="-120"/>
                        </a:rPr>
                        <a:t>Kernel stops it — no handler allowed</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00786A"/>
                          </a:solidFill>
                          <a:latin typeface="Courier New" pitchFamily="34" charset="0"/>
                          <a:ea typeface="Courier New" pitchFamily="34" charset="-122"/>
                          <a:cs typeface="Courier New" pitchFamily="34" charset="-120"/>
                        </a:rPr>
                        <a:t>SIGCONT</a:t>
                      </a:r>
                      <a:endParaRPr lang="en-US" sz="1600" dirty="0">
                        <a:latin typeface="Courier New" charset="0"/>
                        <a:ea typeface="Courier New" charset="0"/>
                        <a:cs typeface="Courier New"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1F5F9"/>
                    </a:solidFill>
                  </a:tcPr>
                </a:tc>
                <a:tc>
                  <a:txBody>
                    <a:bodyPr/>
                    <a:lstStyle/>
                    <a:p>
                      <a:pPr indent="0" marL="0">
                        <a:buNone/>
                      </a:pPr>
                      <a:r>
                        <a:rPr lang="en-US" sz="1500" dirty="0">
                          <a:solidFill>
                            <a:srgbClr val="4F6275"/>
                          </a:solidFill>
                          <a:latin typeface="Calibri" pitchFamily="34" charset="0"/>
                          <a:ea typeface="Calibri" pitchFamily="34" charset="-122"/>
                          <a:cs typeface="Calibri" pitchFamily="34" charset="-120"/>
                        </a:rPr>
                        <a:t>Parent → Child</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1F5F9"/>
                    </a:solidFill>
                  </a:tcPr>
                </a:tc>
                <a:tc>
                  <a:txBody>
                    <a:bodyPr/>
                    <a:lstStyle/>
                    <a:p>
                      <a:pPr indent="0" marL="0">
                        <a:buNone/>
                      </a:pPr>
                      <a:r>
                        <a:rPr lang="en-US" sz="1500" b="1" dirty="0">
                          <a:solidFill>
                            <a:srgbClr val="0B1F3A"/>
                          </a:solidFill>
                          <a:latin typeface="Calibri" pitchFamily="34" charset="0"/>
                          <a:ea typeface="Calibri" pitchFamily="34" charset="-122"/>
                          <a:cs typeface="Calibri" pitchFamily="34" charset="-120"/>
                        </a:rPr>
                        <a:t>Resume a stopped child</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1F5F9"/>
                    </a:solidFill>
                  </a:tcPr>
                </a:tc>
                <a:tc>
                  <a:txBody>
                    <a:bodyPr/>
                    <a:lstStyle/>
                    <a:p>
                      <a:pPr indent="0" marL="0">
                        <a:buNone/>
                      </a:pPr>
                      <a:r>
                        <a:rPr lang="en-US" sz="1500" dirty="0">
                          <a:solidFill>
                            <a:srgbClr val="4F6275"/>
                          </a:solidFill>
                          <a:latin typeface="Calibri" pitchFamily="34" charset="0"/>
                          <a:ea typeface="Calibri" pitchFamily="34" charset="-122"/>
                          <a:cs typeface="Calibri" pitchFamily="34" charset="-120"/>
                        </a:rPr>
                        <a:t>Kernel resumes it; child may note the event</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1F5F9"/>
                    </a:solidFill>
                  </a:tcPr>
                </a:tc>
              </a:tr>
              <a:tr h="566928">
                <a:tc>
                  <a:txBody>
                    <a:bodyPr/>
                    <a:lstStyle/>
                    <a:p>
                      <a:pPr indent="0" marL="0">
                        <a:buNone/>
                      </a:pPr>
                      <a:r>
                        <a:rPr lang="en-US" sz="1600" b="1" dirty="0">
                          <a:solidFill>
                            <a:srgbClr val="00786A"/>
                          </a:solidFill>
                          <a:latin typeface="Courier New" pitchFamily="34" charset="0"/>
                          <a:ea typeface="Courier New" pitchFamily="34" charset="-122"/>
                          <a:cs typeface="Courier New" pitchFamily="34" charset="-120"/>
                        </a:rPr>
                        <a:t>SIGTERM</a:t>
                      </a:r>
                      <a:endParaRPr lang="en-US" sz="1600" dirty="0">
                        <a:latin typeface="Courier New" charset="0"/>
                        <a:ea typeface="Courier New" charset="0"/>
                        <a:cs typeface="Courier New"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500" dirty="0">
                          <a:solidFill>
                            <a:srgbClr val="4F6275"/>
                          </a:solidFill>
                          <a:latin typeface="Calibri" pitchFamily="34" charset="0"/>
                          <a:ea typeface="Calibri" pitchFamily="34" charset="-122"/>
                          <a:cs typeface="Calibri" pitchFamily="34" charset="-120"/>
                        </a:rPr>
                        <a:t>Parent → Child</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500" b="1" dirty="0">
                          <a:solidFill>
                            <a:srgbClr val="0B1F3A"/>
                          </a:solidFill>
                          <a:latin typeface="Calibri" pitchFamily="34" charset="0"/>
                          <a:ea typeface="Calibri" pitchFamily="34" charset="-122"/>
                          <a:cs typeface="Calibri" pitchFamily="34" charset="-120"/>
                        </a:rPr>
                        <a:t>Request a graceful exit</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500" dirty="0">
                          <a:solidFill>
                            <a:srgbClr val="4F6275"/>
                          </a:solidFill>
                          <a:latin typeface="Calibri" pitchFamily="34" charset="0"/>
                          <a:ea typeface="Calibri" pitchFamily="34" charset="-122"/>
                          <a:cs typeface="Calibri" pitchFamily="34" charset="-120"/>
                        </a:rPr>
                        <a:t>Finishes its work, then exits cleanly</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00786A"/>
                          </a:solidFill>
                          <a:latin typeface="Courier New" pitchFamily="34" charset="0"/>
                          <a:ea typeface="Courier New" pitchFamily="34" charset="-122"/>
                          <a:cs typeface="Courier New" pitchFamily="34" charset="-120"/>
                        </a:rPr>
                        <a:t>SIGCHLD</a:t>
                      </a:r>
                      <a:endParaRPr lang="en-US" sz="1600" dirty="0">
                        <a:latin typeface="Courier New" charset="0"/>
                        <a:ea typeface="Courier New" charset="0"/>
                        <a:cs typeface="Courier New"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1F5F9"/>
                    </a:solidFill>
                  </a:tcPr>
                </a:tc>
                <a:tc>
                  <a:txBody>
                    <a:bodyPr/>
                    <a:lstStyle/>
                    <a:p>
                      <a:pPr indent="0" marL="0">
                        <a:buNone/>
                      </a:pPr>
                      <a:r>
                        <a:rPr lang="en-US" sz="1500" dirty="0">
                          <a:solidFill>
                            <a:srgbClr val="4F6275"/>
                          </a:solidFill>
                          <a:latin typeface="Calibri" pitchFamily="34" charset="0"/>
                          <a:ea typeface="Calibri" pitchFamily="34" charset="-122"/>
                          <a:cs typeface="Calibri" pitchFamily="34" charset="-120"/>
                        </a:rPr>
                        <a:t>Kernel → Parent</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1F5F9"/>
                    </a:solidFill>
                  </a:tcPr>
                </a:tc>
                <a:tc>
                  <a:txBody>
                    <a:bodyPr/>
                    <a:lstStyle/>
                    <a:p>
                      <a:pPr indent="0" marL="0">
                        <a:buNone/>
                      </a:pPr>
                      <a:r>
                        <a:rPr lang="en-US" sz="1500" b="1" dirty="0">
                          <a:solidFill>
                            <a:srgbClr val="0B1F3A"/>
                          </a:solidFill>
                          <a:latin typeface="Calibri" pitchFamily="34" charset="0"/>
                          <a:ea typeface="Calibri" pitchFamily="34" charset="-122"/>
                          <a:cs typeface="Calibri" pitchFamily="34" charset="-120"/>
                        </a:rPr>
                        <a:t>Tell the parent a child changed state</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1F5F9"/>
                    </a:solidFill>
                  </a:tcPr>
                </a:tc>
                <a:tc>
                  <a:txBody>
                    <a:bodyPr/>
                    <a:lstStyle/>
                    <a:p>
                      <a:pPr indent="0" marL="0">
                        <a:buNone/>
                      </a:pPr>
                      <a:r>
                        <a:rPr lang="en-US" sz="1500" dirty="0">
                          <a:solidFill>
                            <a:srgbClr val="4F6275"/>
                          </a:solidFill>
                          <a:latin typeface="Calibri" pitchFamily="34" charset="0"/>
                          <a:ea typeface="Calibri" pitchFamily="34" charset="-122"/>
                          <a:cs typeface="Calibri" pitchFamily="34" charset="-120"/>
                        </a:rPr>
                        <a:t>Parent calls waitpid() to check and reap</a:t>
                      </a:r>
                      <a:endParaRPr lang="en-US" sz="1500" dirty="0">
                        <a:latin typeface="Calibri" charset="0"/>
                        <a:ea typeface="Calibri" charset="0"/>
                        <a:cs typeface="Calibri" charset="0"/>
                      </a:endParaRPr>
                    </a:p>
                  </a:txBody>
                  <a:tcPr marL="109728" marR="109728" marT="109728" marB="109728" anchor="ctr">
                    <a:lnL w="12700" cap="flat" cmpd="sng" algn="ctr">
                      <a:solidFill>
                        <a:srgbClr val="D8E1E8"/>
                      </a:solidFill>
                      <a:prstDash val="solid"/>
                      <a:round/>
                      <a:headEnd type="none" w="med" len="med"/>
                      <a:tailEnd type="none" w="med" len="med"/>
                    </a:lnL>
                    <a:lnR w="12700" cap="flat" cmpd="sng" algn="ctr">
                      <a:solidFill>
                        <a:srgbClr val="D8E1E8"/>
                      </a:solidFill>
                      <a:prstDash val="solid"/>
                      <a:round/>
                      <a:headEnd type="none" w="med" len="med"/>
                      <a:tailEnd type="none" w="med" len="med"/>
                    </a:lnR>
                    <a:lnT w="12700" cap="flat" cmpd="sng" algn="ctr">
                      <a:solidFill>
                        <a:srgbClr val="D8E1E8"/>
                      </a:solidFill>
                      <a:prstDash val="solid"/>
                      <a:round/>
                      <a:headEnd type="none" w="med" len="med"/>
                      <a:tailEnd type="none" w="med" len="med"/>
                    </a:lnT>
                    <a:lnB w="12700" cap="flat" cmpd="sng" algn="ctr">
                      <a:solidFill>
                        <a:srgbClr val="D8E1E8"/>
                      </a:solidFill>
                      <a:prstDash val="solid"/>
                      <a:round/>
                      <a:headEnd type="none" w="med" len="med"/>
                      <a:tailEnd type="none" w="med" len="med"/>
                    </a:lnB>
                    <a:solidFill>
                      <a:srgbClr val="F1F5F9"/>
                    </a:solidFill>
                  </a:tcPr>
                </a:tc>
              </a:tr>
            </a:tbl>
          </a:graphicData>
        </a:graphic>
      </p:graphicFrame>
      <p:sp>
        <p:nvSpPr>
          <p:cNvPr id="4" name="Shape 1"/>
          <p:cNvSpPr/>
          <p:nvPr/>
        </p:nvSpPr>
        <p:spPr>
          <a:xfrm>
            <a:off x="548640" y="5349240"/>
            <a:ext cx="11091672" cy="685800"/>
          </a:xfrm>
          <a:prstGeom prst="roundRect">
            <a:avLst>
              <a:gd name="adj" fmla="val 10667"/>
            </a:avLst>
          </a:prstGeom>
          <a:solidFill>
            <a:srgbClr val="E6F4F1"/>
          </a:solidFill>
          <a:ln w="19050">
            <a:solidFill>
              <a:srgbClr val="00A896"/>
            </a:solidFill>
            <a:prstDash val="solid"/>
          </a:ln>
        </p:spPr>
      </p:sp>
      <p:sp>
        <p:nvSpPr>
          <p:cNvPr id="5" name="Text 2"/>
          <p:cNvSpPr txBox="1"/>
          <p:nvPr/>
        </p:nvSpPr>
        <p:spPr>
          <a:xfrm>
            <a:off x="777240" y="5349240"/>
            <a:ext cx="10607040" cy="685800"/>
          </a:xfrm>
          <a:prstGeom prst="rect">
            <a:avLst/>
          </a:prstGeom>
          <a:noFill/>
          <a:ln/>
        </p:spPr>
        <p:txBody>
          <a:bodyPr wrap="square" lIns="0" tIns="0" rIns="0" bIns="0" rtlCol="0" anchor="ctr"/>
          <a:lstStyle/>
          <a:p>
            <a:pPr indent="0" marL="0">
              <a:buNone/>
            </a:pPr>
            <a:r>
              <a:rPr lang="en-US" sz="1600" b="1" dirty="0">
                <a:solidFill>
                  <a:srgbClr val="00786A"/>
                </a:solidFill>
                <a:latin typeface="Calibri" pitchFamily="34" charset="0"/>
                <a:ea typeface="Calibri" pitchFamily="34" charset="-122"/>
                <a:cs typeface="Calibri" pitchFamily="34" charset="-120"/>
              </a:rPr>
              <a:t>Important:  </a:t>
            </a:r>
            <a:pPr indent="0" marL="0">
              <a:buNone/>
            </a:pPr>
            <a:r>
              <a:rPr lang="en-US" sz="1600" b="1" dirty="0">
                <a:solidFill>
                  <a:srgbClr val="0B1F3A"/>
                </a:solidFill>
                <a:latin typeface="Courier New" pitchFamily="34" charset="0"/>
                <a:ea typeface="Courier New" pitchFamily="34" charset="-122"/>
                <a:cs typeface="Courier New" pitchFamily="34" charset="-120"/>
              </a:rPr>
              <a:t>SIGSTOP</a:t>
            </a:r>
            <a:pPr indent="0" marL="0">
              <a:buNone/>
            </a:pPr>
            <a:r>
              <a:rPr lang="en-US" sz="1600" dirty="0">
                <a:solidFill>
                  <a:srgbClr val="0B1F3A"/>
                </a:solidFill>
                <a:latin typeface="Calibri" pitchFamily="34" charset="0"/>
                <a:ea typeface="Calibri" pitchFamily="34" charset="-122"/>
                <a:cs typeface="Calibri" pitchFamily="34" charset="-120"/>
              </a:rPr>
              <a:t> is enforced directly by the kernel — it cannot be caught, blocked or ignored, so no handler is written for it.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200" b="1" dirty="0">
                <a:solidFill>
                  <a:srgbClr val="0B1F3A"/>
                </a:solidFill>
                <a:latin typeface="Calibri" pitchFamily="34" charset="0"/>
                <a:ea typeface="Calibri" pitchFamily="34" charset="-122"/>
                <a:cs typeface="Calibri" pitchFamily="34" charset="-120"/>
              </a:rPr>
              <a:t>Linux Concepts and APIs Planned</a:t>
            </a:r>
            <a:endParaRPr lang="en-US" sz="3200" dirty="0"/>
          </a:p>
        </p:txBody>
      </p:sp>
      <p:sp>
        <p:nvSpPr>
          <p:cNvPr id="3" name="Shape 1"/>
          <p:cNvSpPr/>
          <p:nvPr/>
        </p:nvSpPr>
        <p:spPr>
          <a:xfrm>
            <a:off x="548640" y="1280160"/>
            <a:ext cx="5486400" cy="2286000"/>
          </a:xfrm>
          <a:prstGeom prst="roundRect">
            <a:avLst>
              <a:gd name="adj" fmla="val 3200"/>
            </a:avLst>
          </a:prstGeom>
          <a:solidFill>
            <a:srgbClr val="F1F5F9"/>
          </a:solidFill>
          <a:ln w="12700">
            <a:solidFill>
              <a:srgbClr val="D8E1E8"/>
            </a:solidFill>
            <a:prstDash val="solid"/>
          </a:ln>
        </p:spPr>
      </p:sp>
      <p:sp>
        <p:nvSpPr>
          <p:cNvPr id="4" name="Shape 2"/>
          <p:cNvSpPr/>
          <p:nvPr/>
        </p:nvSpPr>
        <p:spPr>
          <a:xfrm>
            <a:off x="822960" y="1508760"/>
            <a:ext cx="109728" cy="384048"/>
          </a:xfrm>
          <a:prstGeom prst="roundRect">
            <a:avLst>
              <a:gd name="adj" fmla="val 50000"/>
            </a:avLst>
          </a:prstGeom>
          <a:solidFill>
            <a:srgbClr val="00A896"/>
          </a:solidFill>
          <a:ln w="12700">
            <a:solidFill>
              <a:srgbClr val="00A896"/>
            </a:solidFill>
            <a:prstDash val="solid"/>
          </a:ln>
        </p:spPr>
      </p:sp>
      <p:sp>
        <p:nvSpPr>
          <p:cNvPr id="5" name="Text 3"/>
          <p:cNvSpPr txBox="1"/>
          <p:nvPr/>
        </p:nvSpPr>
        <p:spPr>
          <a:xfrm>
            <a:off x="1078992" y="1481328"/>
            <a:ext cx="4663440" cy="438912"/>
          </a:xfrm>
          <a:prstGeom prst="rect">
            <a:avLst/>
          </a:prstGeom>
          <a:noFill/>
          <a:ln/>
        </p:spPr>
        <p:txBody>
          <a:bodyPr wrap="square" lIns="0" tIns="0" rIns="0" bIns="0" rtlCol="0" anchor="ctr"/>
          <a:lstStyle/>
          <a:p>
            <a:pPr indent="0" marL="0">
              <a:buNone/>
            </a:pPr>
            <a:r>
              <a:rPr lang="en-US" sz="2100" b="1" dirty="0">
                <a:solidFill>
                  <a:srgbClr val="0B1F3A"/>
                </a:solidFill>
                <a:latin typeface="Calibri" pitchFamily="34" charset="0"/>
                <a:ea typeface="Calibri" pitchFamily="34" charset="-122"/>
                <a:cs typeface="Calibri" pitchFamily="34" charset="-120"/>
              </a:rPr>
              <a:t>Process Control</a:t>
            </a:r>
            <a:endParaRPr lang="en-US" sz="2100" dirty="0"/>
          </a:p>
        </p:txBody>
      </p:sp>
      <p:sp>
        <p:nvSpPr>
          <p:cNvPr id="6" name="Text 4"/>
          <p:cNvSpPr txBox="1"/>
          <p:nvPr/>
        </p:nvSpPr>
        <p:spPr>
          <a:xfrm>
            <a:off x="822960" y="1938528"/>
            <a:ext cx="4937760" cy="384048"/>
          </a:xfrm>
          <a:prstGeom prst="rect">
            <a:avLst/>
          </a:prstGeom>
          <a:noFill/>
          <a:ln/>
        </p:spPr>
        <p:txBody>
          <a:bodyPr wrap="square" lIns="0" tIns="0" rIns="0" bIns="0" rtlCol="0" anchor="ctr"/>
          <a:lstStyle/>
          <a:p>
            <a:pPr indent="0" marL="0">
              <a:buNone/>
            </a:pPr>
            <a:r>
              <a:rPr lang="en-US" sz="1500" dirty="0">
                <a:solidFill>
                  <a:srgbClr val="4F6275"/>
                </a:solidFill>
                <a:latin typeface="Calibri" pitchFamily="34" charset="0"/>
                <a:ea typeface="Calibri" pitchFamily="34" charset="-122"/>
                <a:cs typeface="Calibri" pitchFamily="34" charset="-120"/>
              </a:rPr>
              <a:t>Creating the children and watching what happens to them.</a:t>
            </a:r>
            <a:endParaRPr lang="en-US" sz="1500" dirty="0"/>
          </a:p>
        </p:txBody>
      </p:sp>
      <p:sp>
        <p:nvSpPr>
          <p:cNvPr id="7" name="Shape 5"/>
          <p:cNvSpPr/>
          <p:nvPr/>
        </p:nvSpPr>
        <p:spPr>
          <a:xfrm>
            <a:off x="822960" y="2450592"/>
            <a:ext cx="886968" cy="438912"/>
          </a:xfrm>
          <a:prstGeom prst="roundRect">
            <a:avLst>
              <a:gd name="adj" fmla="val 16667"/>
            </a:avLst>
          </a:prstGeom>
          <a:solidFill>
            <a:srgbClr val="E6F4F1"/>
          </a:solidFill>
          <a:ln w="12700">
            <a:solidFill>
              <a:srgbClr val="C7E4DD"/>
            </a:solidFill>
            <a:prstDash val="solid"/>
          </a:ln>
        </p:spPr>
      </p:sp>
      <p:sp>
        <p:nvSpPr>
          <p:cNvPr id="8" name="Text 6"/>
          <p:cNvSpPr txBox="1"/>
          <p:nvPr/>
        </p:nvSpPr>
        <p:spPr>
          <a:xfrm>
            <a:off x="822960" y="2450592"/>
            <a:ext cx="8869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fork()</a:t>
            </a:r>
            <a:endParaRPr lang="en-US" sz="1450" dirty="0"/>
          </a:p>
        </p:txBody>
      </p:sp>
      <p:sp>
        <p:nvSpPr>
          <p:cNvPr id="9" name="Shape 7"/>
          <p:cNvSpPr/>
          <p:nvPr/>
        </p:nvSpPr>
        <p:spPr>
          <a:xfrm>
            <a:off x="1856232" y="2450592"/>
            <a:ext cx="1115568" cy="438912"/>
          </a:xfrm>
          <a:prstGeom prst="roundRect">
            <a:avLst>
              <a:gd name="adj" fmla="val 16667"/>
            </a:avLst>
          </a:prstGeom>
          <a:solidFill>
            <a:srgbClr val="E6F4F1"/>
          </a:solidFill>
          <a:ln w="12700">
            <a:solidFill>
              <a:srgbClr val="C7E4DD"/>
            </a:solidFill>
            <a:prstDash val="solid"/>
          </a:ln>
        </p:spPr>
      </p:sp>
      <p:sp>
        <p:nvSpPr>
          <p:cNvPr id="10" name="Text 8"/>
          <p:cNvSpPr txBox="1"/>
          <p:nvPr/>
        </p:nvSpPr>
        <p:spPr>
          <a:xfrm>
            <a:off x="1856232" y="2450592"/>
            <a:ext cx="11155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getpid()</a:t>
            </a:r>
            <a:endParaRPr lang="en-US" sz="1450" dirty="0"/>
          </a:p>
        </p:txBody>
      </p:sp>
      <p:sp>
        <p:nvSpPr>
          <p:cNvPr id="11" name="Shape 9"/>
          <p:cNvSpPr/>
          <p:nvPr/>
        </p:nvSpPr>
        <p:spPr>
          <a:xfrm>
            <a:off x="3118104" y="2450592"/>
            <a:ext cx="1229868" cy="438912"/>
          </a:xfrm>
          <a:prstGeom prst="roundRect">
            <a:avLst>
              <a:gd name="adj" fmla="val 16667"/>
            </a:avLst>
          </a:prstGeom>
          <a:solidFill>
            <a:srgbClr val="E6F4F1"/>
          </a:solidFill>
          <a:ln w="12700">
            <a:solidFill>
              <a:srgbClr val="C7E4DD"/>
            </a:solidFill>
            <a:prstDash val="solid"/>
          </a:ln>
        </p:spPr>
      </p:sp>
      <p:sp>
        <p:nvSpPr>
          <p:cNvPr id="12" name="Text 10"/>
          <p:cNvSpPr txBox="1"/>
          <p:nvPr/>
        </p:nvSpPr>
        <p:spPr>
          <a:xfrm>
            <a:off x="3118104" y="2450592"/>
            <a:ext cx="12298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setpgid()</a:t>
            </a:r>
            <a:endParaRPr lang="en-US" sz="1450" dirty="0"/>
          </a:p>
        </p:txBody>
      </p:sp>
      <p:sp>
        <p:nvSpPr>
          <p:cNvPr id="13" name="Shape 11"/>
          <p:cNvSpPr/>
          <p:nvPr/>
        </p:nvSpPr>
        <p:spPr>
          <a:xfrm>
            <a:off x="4494276" y="2450592"/>
            <a:ext cx="1229868" cy="438912"/>
          </a:xfrm>
          <a:prstGeom prst="roundRect">
            <a:avLst>
              <a:gd name="adj" fmla="val 16667"/>
            </a:avLst>
          </a:prstGeom>
          <a:solidFill>
            <a:srgbClr val="E6F4F1"/>
          </a:solidFill>
          <a:ln w="12700">
            <a:solidFill>
              <a:srgbClr val="C7E4DD"/>
            </a:solidFill>
            <a:prstDash val="solid"/>
          </a:ln>
        </p:spPr>
      </p:sp>
      <p:sp>
        <p:nvSpPr>
          <p:cNvPr id="14" name="Text 12"/>
          <p:cNvSpPr txBox="1"/>
          <p:nvPr/>
        </p:nvSpPr>
        <p:spPr>
          <a:xfrm>
            <a:off x="4494276" y="2450592"/>
            <a:ext cx="12298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waitpid()</a:t>
            </a:r>
            <a:endParaRPr lang="en-US" sz="1450" dirty="0"/>
          </a:p>
        </p:txBody>
      </p:sp>
      <p:sp>
        <p:nvSpPr>
          <p:cNvPr id="15" name="Shape 13"/>
          <p:cNvSpPr/>
          <p:nvPr/>
        </p:nvSpPr>
        <p:spPr>
          <a:xfrm>
            <a:off x="6519672" y="1280160"/>
            <a:ext cx="5486400" cy="2286000"/>
          </a:xfrm>
          <a:prstGeom prst="roundRect">
            <a:avLst>
              <a:gd name="adj" fmla="val 3200"/>
            </a:avLst>
          </a:prstGeom>
          <a:solidFill>
            <a:srgbClr val="FFFFFF"/>
          </a:solidFill>
          <a:ln w="12700">
            <a:solidFill>
              <a:srgbClr val="D8E1E8"/>
            </a:solidFill>
            <a:prstDash val="solid"/>
          </a:ln>
        </p:spPr>
      </p:sp>
      <p:sp>
        <p:nvSpPr>
          <p:cNvPr id="16" name="Shape 14"/>
          <p:cNvSpPr/>
          <p:nvPr/>
        </p:nvSpPr>
        <p:spPr>
          <a:xfrm>
            <a:off x="6793992" y="1508760"/>
            <a:ext cx="109728" cy="384048"/>
          </a:xfrm>
          <a:prstGeom prst="roundRect">
            <a:avLst>
              <a:gd name="adj" fmla="val 50000"/>
            </a:avLst>
          </a:prstGeom>
          <a:solidFill>
            <a:srgbClr val="00A896"/>
          </a:solidFill>
          <a:ln w="12700">
            <a:solidFill>
              <a:srgbClr val="00A896"/>
            </a:solidFill>
            <a:prstDash val="solid"/>
          </a:ln>
        </p:spPr>
      </p:sp>
      <p:sp>
        <p:nvSpPr>
          <p:cNvPr id="17" name="Text 15"/>
          <p:cNvSpPr txBox="1"/>
          <p:nvPr/>
        </p:nvSpPr>
        <p:spPr>
          <a:xfrm>
            <a:off x="7050024" y="1481328"/>
            <a:ext cx="4663440" cy="438912"/>
          </a:xfrm>
          <a:prstGeom prst="rect">
            <a:avLst/>
          </a:prstGeom>
          <a:noFill/>
          <a:ln/>
        </p:spPr>
        <p:txBody>
          <a:bodyPr wrap="square" lIns="0" tIns="0" rIns="0" bIns="0" rtlCol="0" anchor="ctr"/>
          <a:lstStyle/>
          <a:p>
            <a:pPr indent="0" marL="0">
              <a:buNone/>
            </a:pPr>
            <a:r>
              <a:rPr lang="en-US" sz="2100" b="1" dirty="0">
                <a:solidFill>
                  <a:srgbClr val="0B1F3A"/>
                </a:solidFill>
                <a:latin typeface="Calibri" pitchFamily="34" charset="0"/>
                <a:ea typeface="Calibri" pitchFamily="34" charset="-122"/>
                <a:cs typeface="Calibri" pitchFamily="34" charset="-120"/>
              </a:rPr>
              <a:t>Signal Programming</a:t>
            </a:r>
            <a:endParaRPr lang="en-US" sz="2100" dirty="0"/>
          </a:p>
        </p:txBody>
      </p:sp>
      <p:sp>
        <p:nvSpPr>
          <p:cNvPr id="18" name="Text 16"/>
          <p:cNvSpPr txBox="1"/>
          <p:nvPr/>
        </p:nvSpPr>
        <p:spPr>
          <a:xfrm>
            <a:off x="6793992" y="1938528"/>
            <a:ext cx="4937760" cy="384048"/>
          </a:xfrm>
          <a:prstGeom prst="rect">
            <a:avLst/>
          </a:prstGeom>
          <a:noFill/>
          <a:ln/>
        </p:spPr>
        <p:txBody>
          <a:bodyPr wrap="square" lIns="0" tIns="0" rIns="0" bIns="0" rtlCol="0" anchor="ctr"/>
          <a:lstStyle/>
          <a:p>
            <a:pPr indent="0" marL="0">
              <a:buNone/>
            </a:pPr>
            <a:r>
              <a:rPr lang="en-US" sz="1500" dirty="0">
                <a:solidFill>
                  <a:srgbClr val="4F6275"/>
                </a:solidFill>
                <a:latin typeface="Calibri" pitchFamily="34" charset="0"/>
                <a:ea typeface="Calibri" pitchFamily="34" charset="-122"/>
                <a:cs typeface="Calibri" pitchFamily="34" charset="-120"/>
              </a:rPr>
              <a:t>Deciding how a signal is handled and sending it safely.</a:t>
            </a:r>
            <a:endParaRPr lang="en-US" sz="1500" dirty="0"/>
          </a:p>
        </p:txBody>
      </p:sp>
      <p:sp>
        <p:nvSpPr>
          <p:cNvPr id="19" name="Shape 17"/>
          <p:cNvSpPr/>
          <p:nvPr/>
        </p:nvSpPr>
        <p:spPr>
          <a:xfrm>
            <a:off x="6793992" y="2450592"/>
            <a:ext cx="1458468" cy="438912"/>
          </a:xfrm>
          <a:prstGeom prst="roundRect">
            <a:avLst>
              <a:gd name="adj" fmla="val 16667"/>
            </a:avLst>
          </a:prstGeom>
          <a:solidFill>
            <a:srgbClr val="E6F4F1"/>
          </a:solidFill>
          <a:ln w="12700">
            <a:solidFill>
              <a:srgbClr val="C7E4DD"/>
            </a:solidFill>
            <a:prstDash val="solid"/>
          </a:ln>
        </p:spPr>
      </p:sp>
      <p:sp>
        <p:nvSpPr>
          <p:cNvPr id="20" name="Text 18"/>
          <p:cNvSpPr txBox="1"/>
          <p:nvPr/>
        </p:nvSpPr>
        <p:spPr>
          <a:xfrm>
            <a:off x="6793992" y="2450592"/>
            <a:ext cx="14584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sigaction()</a:t>
            </a:r>
            <a:endParaRPr lang="en-US" sz="1450" dirty="0"/>
          </a:p>
        </p:txBody>
      </p:sp>
      <p:sp>
        <p:nvSpPr>
          <p:cNvPr id="21" name="Shape 19"/>
          <p:cNvSpPr/>
          <p:nvPr/>
        </p:nvSpPr>
        <p:spPr>
          <a:xfrm>
            <a:off x="8398764" y="2450592"/>
            <a:ext cx="1687068" cy="438912"/>
          </a:xfrm>
          <a:prstGeom prst="roundRect">
            <a:avLst>
              <a:gd name="adj" fmla="val 16667"/>
            </a:avLst>
          </a:prstGeom>
          <a:solidFill>
            <a:srgbClr val="E6F4F1"/>
          </a:solidFill>
          <a:ln w="12700">
            <a:solidFill>
              <a:srgbClr val="C7E4DD"/>
            </a:solidFill>
            <a:prstDash val="solid"/>
          </a:ln>
        </p:spPr>
      </p:sp>
      <p:sp>
        <p:nvSpPr>
          <p:cNvPr id="22" name="Text 20"/>
          <p:cNvSpPr txBox="1"/>
          <p:nvPr/>
        </p:nvSpPr>
        <p:spPr>
          <a:xfrm>
            <a:off x="8398764" y="2450592"/>
            <a:ext cx="16870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sigprocmask()</a:t>
            </a:r>
            <a:endParaRPr lang="en-US" sz="1450" dirty="0"/>
          </a:p>
        </p:txBody>
      </p:sp>
      <p:sp>
        <p:nvSpPr>
          <p:cNvPr id="23" name="Shape 21"/>
          <p:cNvSpPr/>
          <p:nvPr/>
        </p:nvSpPr>
        <p:spPr>
          <a:xfrm>
            <a:off x="6793992" y="2980944"/>
            <a:ext cx="1572768" cy="438912"/>
          </a:xfrm>
          <a:prstGeom prst="roundRect">
            <a:avLst>
              <a:gd name="adj" fmla="val 16667"/>
            </a:avLst>
          </a:prstGeom>
          <a:solidFill>
            <a:srgbClr val="E6F4F1"/>
          </a:solidFill>
          <a:ln w="12700">
            <a:solidFill>
              <a:srgbClr val="C7E4DD"/>
            </a:solidFill>
            <a:prstDash val="solid"/>
          </a:ln>
        </p:spPr>
      </p:sp>
      <p:sp>
        <p:nvSpPr>
          <p:cNvPr id="24" name="Text 22"/>
          <p:cNvSpPr txBox="1"/>
          <p:nvPr/>
        </p:nvSpPr>
        <p:spPr>
          <a:xfrm>
            <a:off x="6793992" y="2980944"/>
            <a:ext cx="15727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sigsuspend()</a:t>
            </a:r>
            <a:endParaRPr lang="en-US" sz="1450" dirty="0"/>
          </a:p>
        </p:txBody>
      </p:sp>
      <p:sp>
        <p:nvSpPr>
          <p:cNvPr id="25" name="Shape 23"/>
          <p:cNvSpPr/>
          <p:nvPr/>
        </p:nvSpPr>
        <p:spPr>
          <a:xfrm>
            <a:off x="8513064" y="2980944"/>
            <a:ext cx="886968" cy="438912"/>
          </a:xfrm>
          <a:prstGeom prst="roundRect">
            <a:avLst>
              <a:gd name="adj" fmla="val 16667"/>
            </a:avLst>
          </a:prstGeom>
          <a:solidFill>
            <a:srgbClr val="E6F4F1"/>
          </a:solidFill>
          <a:ln w="12700">
            <a:solidFill>
              <a:srgbClr val="C7E4DD"/>
            </a:solidFill>
            <a:prstDash val="solid"/>
          </a:ln>
        </p:spPr>
      </p:sp>
      <p:sp>
        <p:nvSpPr>
          <p:cNvPr id="26" name="Text 24"/>
          <p:cNvSpPr txBox="1"/>
          <p:nvPr/>
        </p:nvSpPr>
        <p:spPr>
          <a:xfrm>
            <a:off x="8513064" y="2980944"/>
            <a:ext cx="8869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kill()</a:t>
            </a:r>
            <a:endParaRPr lang="en-US" sz="1450" dirty="0"/>
          </a:p>
        </p:txBody>
      </p:sp>
      <p:sp>
        <p:nvSpPr>
          <p:cNvPr id="27" name="Shape 25"/>
          <p:cNvSpPr/>
          <p:nvPr/>
        </p:nvSpPr>
        <p:spPr>
          <a:xfrm>
            <a:off x="548640" y="3858768"/>
            <a:ext cx="5486400" cy="2286000"/>
          </a:xfrm>
          <a:prstGeom prst="roundRect">
            <a:avLst>
              <a:gd name="adj" fmla="val 3200"/>
            </a:avLst>
          </a:prstGeom>
          <a:solidFill>
            <a:srgbClr val="FFFFFF"/>
          </a:solidFill>
          <a:ln w="12700">
            <a:solidFill>
              <a:srgbClr val="D8E1E8"/>
            </a:solidFill>
            <a:prstDash val="solid"/>
          </a:ln>
        </p:spPr>
      </p:sp>
      <p:sp>
        <p:nvSpPr>
          <p:cNvPr id="28" name="Shape 26"/>
          <p:cNvSpPr/>
          <p:nvPr/>
        </p:nvSpPr>
        <p:spPr>
          <a:xfrm>
            <a:off x="822960" y="4087368"/>
            <a:ext cx="109728" cy="384048"/>
          </a:xfrm>
          <a:prstGeom prst="roundRect">
            <a:avLst>
              <a:gd name="adj" fmla="val 50000"/>
            </a:avLst>
          </a:prstGeom>
          <a:solidFill>
            <a:srgbClr val="00A896"/>
          </a:solidFill>
          <a:ln w="12700">
            <a:solidFill>
              <a:srgbClr val="00A896"/>
            </a:solidFill>
            <a:prstDash val="solid"/>
          </a:ln>
        </p:spPr>
      </p:sp>
      <p:sp>
        <p:nvSpPr>
          <p:cNvPr id="29" name="Text 27"/>
          <p:cNvSpPr txBox="1"/>
          <p:nvPr/>
        </p:nvSpPr>
        <p:spPr>
          <a:xfrm>
            <a:off x="1078992" y="4059936"/>
            <a:ext cx="4663440" cy="438912"/>
          </a:xfrm>
          <a:prstGeom prst="rect">
            <a:avLst/>
          </a:prstGeom>
          <a:noFill/>
          <a:ln/>
        </p:spPr>
        <p:txBody>
          <a:bodyPr wrap="square" lIns="0" tIns="0" rIns="0" bIns="0" rtlCol="0" anchor="ctr"/>
          <a:lstStyle/>
          <a:p>
            <a:pPr indent="0" marL="0">
              <a:buNone/>
            </a:pPr>
            <a:r>
              <a:rPr lang="en-US" sz="2100" b="1" dirty="0">
                <a:solidFill>
                  <a:srgbClr val="0B1F3A"/>
                </a:solidFill>
                <a:latin typeface="Calibri" pitchFamily="34" charset="0"/>
                <a:ea typeface="Calibri" pitchFamily="34" charset="-122"/>
                <a:cs typeface="Calibri" pitchFamily="34" charset="-120"/>
              </a:rPr>
              <a:t>Communication</a:t>
            </a:r>
            <a:endParaRPr lang="en-US" sz="2100" dirty="0"/>
          </a:p>
        </p:txBody>
      </p:sp>
      <p:sp>
        <p:nvSpPr>
          <p:cNvPr id="30" name="Text 28"/>
          <p:cNvSpPr txBox="1"/>
          <p:nvPr/>
        </p:nvSpPr>
        <p:spPr>
          <a:xfrm>
            <a:off x="822960" y="4517136"/>
            <a:ext cx="4937760" cy="384048"/>
          </a:xfrm>
          <a:prstGeom prst="rect">
            <a:avLst/>
          </a:prstGeom>
          <a:noFill/>
          <a:ln/>
        </p:spPr>
        <p:txBody>
          <a:bodyPr wrap="square" lIns="0" tIns="0" rIns="0" bIns="0" rtlCol="0" anchor="ctr"/>
          <a:lstStyle/>
          <a:p>
            <a:pPr indent="0" marL="0">
              <a:buNone/>
            </a:pPr>
            <a:r>
              <a:rPr lang="en-US" sz="1500" dirty="0">
                <a:solidFill>
                  <a:srgbClr val="4F6275"/>
                </a:solidFill>
                <a:latin typeface="Calibri" pitchFamily="34" charset="0"/>
                <a:ea typeface="Calibri" pitchFamily="34" charset="-122"/>
                <a:cs typeface="Calibri" pitchFamily="34" charset="-120"/>
              </a:rPr>
              <a:t>Moving events to the parent and commands into the parent.</a:t>
            </a:r>
            <a:endParaRPr lang="en-US" sz="1500" dirty="0"/>
          </a:p>
        </p:txBody>
      </p:sp>
      <p:sp>
        <p:nvSpPr>
          <p:cNvPr id="31" name="Shape 29"/>
          <p:cNvSpPr/>
          <p:nvPr/>
        </p:nvSpPr>
        <p:spPr>
          <a:xfrm>
            <a:off x="822960" y="5029200"/>
            <a:ext cx="886968" cy="438912"/>
          </a:xfrm>
          <a:prstGeom prst="roundRect">
            <a:avLst>
              <a:gd name="adj" fmla="val 16667"/>
            </a:avLst>
          </a:prstGeom>
          <a:solidFill>
            <a:srgbClr val="E6F4F1"/>
          </a:solidFill>
          <a:ln w="12700">
            <a:solidFill>
              <a:srgbClr val="C7E4DD"/>
            </a:solidFill>
            <a:prstDash val="solid"/>
          </a:ln>
        </p:spPr>
      </p:sp>
      <p:sp>
        <p:nvSpPr>
          <p:cNvPr id="32" name="Text 30"/>
          <p:cNvSpPr txBox="1"/>
          <p:nvPr/>
        </p:nvSpPr>
        <p:spPr>
          <a:xfrm>
            <a:off x="822960" y="5029200"/>
            <a:ext cx="8869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pipe()</a:t>
            </a:r>
            <a:endParaRPr lang="en-US" sz="1450" dirty="0"/>
          </a:p>
        </p:txBody>
      </p:sp>
      <p:sp>
        <p:nvSpPr>
          <p:cNvPr id="33" name="Shape 31"/>
          <p:cNvSpPr/>
          <p:nvPr/>
        </p:nvSpPr>
        <p:spPr>
          <a:xfrm>
            <a:off x="1856232" y="5029200"/>
            <a:ext cx="1115568" cy="438912"/>
          </a:xfrm>
          <a:prstGeom prst="roundRect">
            <a:avLst>
              <a:gd name="adj" fmla="val 16667"/>
            </a:avLst>
          </a:prstGeom>
          <a:solidFill>
            <a:srgbClr val="E6F4F1"/>
          </a:solidFill>
          <a:ln w="12700">
            <a:solidFill>
              <a:srgbClr val="C7E4DD"/>
            </a:solidFill>
            <a:prstDash val="solid"/>
          </a:ln>
        </p:spPr>
      </p:sp>
      <p:sp>
        <p:nvSpPr>
          <p:cNvPr id="34" name="Text 32"/>
          <p:cNvSpPr txBox="1"/>
          <p:nvPr/>
        </p:nvSpPr>
        <p:spPr>
          <a:xfrm>
            <a:off x="1856232" y="5029200"/>
            <a:ext cx="11155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mkfifo()</a:t>
            </a:r>
            <a:endParaRPr lang="en-US" sz="1450" dirty="0"/>
          </a:p>
        </p:txBody>
      </p:sp>
      <p:sp>
        <p:nvSpPr>
          <p:cNvPr id="35" name="Shape 33"/>
          <p:cNvSpPr/>
          <p:nvPr/>
        </p:nvSpPr>
        <p:spPr>
          <a:xfrm>
            <a:off x="3118104" y="5029200"/>
            <a:ext cx="886968" cy="438912"/>
          </a:xfrm>
          <a:prstGeom prst="roundRect">
            <a:avLst>
              <a:gd name="adj" fmla="val 16667"/>
            </a:avLst>
          </a:prstGeom>
          <a:solidFill>
            <a:srgbClr val="E6F4F1"/>
          </a:solidFill>
          <a:ln w="12700">
            <a:solidFill>
              <a:srgbClr val="C7E4DD"/>
            </a:solidFill>
            <a:prstDash val="solid"/>
          </a:ln>
        </p:spPr>
      </p:sp>
      <p:sp>
        <p:nvSpPr>
          <p:cNvPr id="36" name="Text 34"/>
          <p:cNvSpPr txBox="1"/>
          <p:nvPr/>
        </p:nvSpPr>
        <p:spPr>
          <a:xfrm>
            <a:off x="3118104" y="5029200"/>
            <a:ext cx="8869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read()</a:t>
            </a:r>
            <a:endParaRPr lang="en-US" sz="1450" dirty="0"/>
          </a:p>
        </p:txBody>
      </p:sp>
      <p:sp>
        <p:nvSpPr>
          <p:cNvPr id="37" name="Shape 35"/>
          <p:cNvSpPr/>
          <p:nvPr/>
        </p:nvSpPr>
        <p:spPr>
          <a:xfrm>
            <a:off x="4151376" y="5029200"/>
            <a:ext cx="1001268" cy="438912"/>
          </a:xfrm>
          <a:prstGeom prst="roundRect">
            <a:avLst>
              <a:gd name="adj" fmla="val 16667"/>
            </a:avLst>
          </a:prstGeom>
          <a:solidFill>
            <a:srgbClr val="E6F4F1"/>
          </a:solidFill>
          <a:ln w="12700">
            <a:solidFill>
              <a:srgbClr val="C7E4DD"/>
            </a:solidFill>
            <a:prstDash val="solid"/>
          </a:ln>
        </p:spPr>
      </p:sp>
      <p:sp>
        <p:nvSpPr>
          <p:cNvPr id="38" name="Text 36"/>
          <p:cNvSpPr txBox="1"/>
          <p:nvPr/>
        </p:nvSpPr>
        <p:spPr>
          <a:xfrm>
            <a:off x="4151376" y="5029200"/>
            <a:ext cx="10012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write()</a:t>
            </a:r>
            <a:endParaRPr lang="en-US" sz="1450" dirty="0"/>
          </a:p>
        </p:txBody>
      </p:sp>
      <p:sp>
        <p:nvSpPr>
          <p:cNvPr id="39" name="Shape 37"/>
          <p:cNvSpPr/>
          <p:nvPr/>
        </p:nvSpPr>
        <p:spPr>
          <a:xfrm>
            <a:off x="822960" y="5559552"/>
            <a:ext cx="886968" cy="438912"/>
          </a:xfrm>
          <a:prstGeom prst="roundRect">
            <a:avLst>
              <a:gd name="adj" fmla="val 16667"/>
            </a:avLst>
          </a:prstGeom>
          <a:solidFill>
            <a:srgbClr val="E6F4F1"/>
          </a:solidFill>
          <a:ln w="12700">
            <a:solidFill>
              <a:srgbClr val="C7E4DD"/>
            </a:solidFill>
            <a:prstDash val="solid"/>
          </a:ln>
        </p:spPr>
      </p:sp>
      <p:sp>
        <p:nvSpPr>
          <p:cNvPr id="40" name="Text 38"/>
          <p:cNvSpPr txBox="1"/>
          <p:nvPr/>
        </p:nvSpPr>
        <p:spPr>
          <a:xfrm>
            <a:off x="822960" y="5559552"/>
            <a:ext cx="8869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poll()</a:t>
            </a:r>
            <a:endParaRPr lang="en-US" sz="1450" dirty="0"/>
          </a:p>
        </p:txBody>
      </p:sp>
      <p:sp>
        <p:nvSpPr>
          <p:cNvPr id="41" name="Shape 39"/>
          <p:cNvSpPr/>
          <p:nvPr/>
        </p:nvSpPr>
        <p:spPr>
          <a:xfrm>
            <a:off x="6519672" y="3858768"/>
            <a:ext cx="5486400" cy="2286000"/>
          </a:xfrm>
          <a:prstGeom prst="roundRect">
            <a:avLst>
              <a:gd name="adj" fmla="val 3200"/>
            </a:avLst>
          </a:prstGeom>
          <a:solidFill>
            <a:srgbClr val="F1F5F9"/>
          </a:solidFill>
          <a:ln w="12700">
            <a:solidFill>
              <a:srgbClr val="D8E1E8"/>
            </a:solidFill>
            <a:prstDash val="solid"/>
          </a:ln>
        </p:spPr>
      </p:sp>
      <p:sp>
        <p:nvSpPr>
          <p:cNvPr id="42" name="Shape 40"/>
          <p:cNvSpPr/>
          <p:nvPr/>
        </p:nvSpPr>
        <p:spPr>
          <a:xfrm>
            <a:off x="6793992" y="4087368"/>
            <a:ext cx="109728" cy="384048"/>
          </a:xfrm>
          <a:prstGeom prst="roundRect">
            <a:avLst>
              <a:gd name="adj" fmla="val 50000"/>
            </a:avLst>
          </a:prstGeom>
          <a:solidFill>
            <a:srgbClr val="00A896"/>
          </a:solidFill>
          <a:ln w="12700">
            <a:solidFill>
              <a:srgbClr val="00A896"/>
            </a:solidFill>
            <a:prstDash val="solid"/>
          </a:ln>
        </p:spPr>
      </p:sp>
      <p:sp>
        <p:nvSpPr>
          <p:cNvPr id="43" name="Text 41"/>
          <p:cNvSpPr txBox="1"/>
          <p:nvPr/>
        </p:nvSpPr>
        <p:spPr>
          <a:xfrm>
            <a:off x="7050024" y="4059936"/>
            <a:ext cx="4663440" cy="438912"/>
          </a:xfrm>
          <a:prstGeom prst="rect">
            <a:avLst/>
          </a:prstGeom>
          <a:noFill/>
          <a:ln/>
        </p:spPr>
        <p:txBody>
          <a:bodyPr wrap="square" lIns="0" tIns="0" rIns="0" bIns="0" rtlCol="0" anchor="ctr"/>
          <a:lstStyle/>
          <a:p>
            <a:pPr indent="0" marL="0">
              <a:buNone/>
            </a:pPr>
            <a:r>
              <a:rPr lang="en-US" sz="2100" b="1" dirty="0">
                <a:solidFill>
                  <a:srgbClr val="0B1F3A"/>
                </a:solidFill>
                <a:latin typeface="Calibri" pitchFamily="34" charset="0"/>
                <a:ea typeface="Calibri" pitchFamily="34" charset="-122"/>
                <a:cs typeface="Calibri" pitchFamily="34" charset="-120"/>
              </a:rPr>
              <a:t>Kernel Verification</a:t>
            </a:r>
            <a:endParaRPr lang="en-US" sz="2100" dirty="0"/>
          </a:p>
        </p:txBody>
      </p:sp>
      <p:sp>
        <p:nvSpPr>
          <p:cNvPr id="44" name="Text 42"/>
          <p:cNvSpPr txBox="1"/>
          <p:nvPr/>
        </p:nvSpPr>
        <p:spPr>
          <a:xfrm>
            <a:off x="6793992" y="4517136"/>
            <a:ext cx="4937760" cy="384048"/>
          </a:xfrm>
          <a:prstGeom prst="rect">
            <a:avLst/>
          </a:prstGeom>
          <a:noFill/>
          <a:ln/>
        </p:spPr>
        <p:txBody>
          <a:bodyPr wrap="square" lIns="0" tIns="0" rIns="0" bIns="0" rtlCol="0" anchor="ctr"/>
          <a:lstStyle/>
          <a:p>
            <a:pPr indent="0" marL="0">
              <a:buNone/>
            </a:pPr>
            <a:r>
              <a:rPr lang="en-US" sz="1500" dirty="0">
                <a:solidFill>
                  <a:srgbClr val="4F6275"/>
                </a:solidFill>
                <a:latin typeface="Calibri" pitchFamily="34" charset="0"/>
                <a:ea typeface="Calibri" pitchFamily="34" charset="-122"/>
                <a:cs typeface="Calibri" pitchFamily="34" charset="-120"/>
              </a:rPr>
              <a:t>Reading the state that the kernel itself maintains.</a:t>
            </a:r>
            <a:endParaRPr lang="en-US" sz="1500" dirty="0"/>
          </a:p>
        </p:txBody>
      </p:sp>
      <p:sp>
        <p:nvSpPr>
          <p:cNvPr id="45" name="Shape 43"/>
          <p:cNvSpPr/>
          <p:nvPr/>
        </p:nvSpPr>
        <p:spPr>
          <a:xfrm>
            <a:off x="6793992" y="5029200"/>
            <a:ext cx="2258568" cy="438912"/>
          </a:xfrm>
          <a:prstGeom prst="roundRect">
            <a:avLst>
              <a:gd name="adj" fmla="val 16667"/>
            </a:avLst>
          </a:prstGeom>
          <a:solidFill>
            <a:srgbClr val="E6F4F1"/>
          </a:solidFill>
          <a:ln w="12700">
            <a:solidFill>
              <a:srgbClr val="C7E4DD"/>
            </a:solidFill>
            <a:prstDash val="solid"/>
          </a:ln>
        </p:spPr>
      </p:sp>
      <p:sp>
        <p:nvSpPr>
          <p:cNvPr id="46" name="Text 44"/>
          <p:cNvSpPr txBox="1"/>
          <p:nvPr/>
        </p:nvSpPr>
        <p:spPr>
          <a:xfrm>
            <a:off x="6793992" y="5029200"/>
            <a:ext cx="2258568" cy="438912"/>
          </a:xfrm>
          <a:prstGeom prst="rect">
            <a:avLst/>
          </a:prstGeom>
          <a:noFill/>
          <a:ln/>
        </p:spPr>
        <p:txBody>
          <a:bodyPr wrap="square" lIns="0" tIns="0" rIns="0" bIns="0" rtlCol="0" anchor="ctr"/>
          <a:lstStyle/>
          <a:p>
            <a:pPr algn="ctr" indent="0" marL="0">
              <a:buNone/>
            </a:pPr>
            <a:r>
              <a:rPr lang="en-US" sz="1450" b="1" dirty="0">
                <a:solidFill>
                  <a:srgbClr val="0B1F3A"/>
                </a:solidFill>
                <a:latin typeface="Courier New" pitchFamily="34" charset="0"/>
                <a:ea typeface="Courier New" pitchFamily="34" charset="-122"/>
                <a:cs typeface="Courier New" pitchFamily="34" charset="-120"/>
              </a:rPr>
              <a:t>/proc/[pid]/status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200" b="1" dirty="0">
                <a:solidFill>
                  <a:srgbClr val="0B1F3A"/>
                </a:solidFill>
                <a:latin typeface="Calibri" pitchFamily="34" charset="0"/>
                <a:ea typeface="Calibri" pitchFamily="34" charset="-122"/>
                <a:cs typeface="Calibri" pitchFamily="34" charset="-120"/>
              </a:rPr>
              <a:t>Tools and Technologies</a:t>
            </a:r>
            <a:endParaRPr lang="en-US" sz="3200" dirty="0"/>
          </a:p>
        </p:txBody>
      </p:sp>
      <p:sp>
        <p:nvSpPr>
          <p:cNvPr id="3" name="Shape 1"/>
          <p:cNvSpPr/>
          <p:nvPr/>
        </p:nvSpPr>
        <p:spPr>
          <a:xfrm>
            <a:off x="402336" y="1463040"/>
            <a:ext cx="3520440" cy="1508760"/>
          </a:xfrm>
          <a:prstGeom prst="roundRect">
            <a:avLst>
              <a:gd name="adj" fmla="val 4848"/>
            </a:avLst>
          </a:prstGeom>
          <a:solidFill>
            <a:srgbClr val="F1F5F9"/>
          </a:solidFill>
          <a:ln w="12700">
            <a:solidFill>
              <a:srgbClr val="D8E1E8"/>
            </a:solidFill>
            <a:prstDash val="solid"/>
          </a:ln>
        </p:spPr>
      </p:sp>
      <p:sp>
        <p:nvSpPr>
          <p:cNvPr id="4" name="Text 2"/>
          <p:cNvSpPr txBox="1"/>
          <p:nvPr/>
        </p:nvSpPr>
        <p:spPr>
          <a:xfrm>
            <a:off x="676656" y="1645920"/>
            <a:ext cx="2971800" cy="384048"/>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Ubuntu Linux</a:t>
            </a:r>
            <a:endParaRPr lang="en-US" sz="2000" dirty="0"/>
          </a:p>
        </p:txBody>
      </p:sp>
      <p:sp>
        <p:nvSpPr>
          <p:cNvPr id="5" name="Text 3"/>
          <p:cNvSpPr txBox="1"/>
          <p:nvPr/>
        </p:nvSpPr>
        <p:spPr>
          <a:xfrm>
            <a:off x="676656" y="2011680"/>
            <a:ext cx="2971800" cy="274320"/>
          </a:xfrm>
          <a:prstGeom prst="rect">
            <a:avLst/>
          </a:prstGeom>
          <a:noFill/>
          <a:ln/>
        </p:spPr>
        <p:txBody>
          <a:bodyPr wrap="square" lIns="0" tIns="0" rIns="0" bIns="0" rtlCol="0" anchor="ctr"/>
          <a:lstStyle/>
          <a:p>
            <a:pPr indent="0" marL="0">
              <a:buNone/>
            </a:pPr>
            <a:r>
              <a:rPr lang="en-US" sz="1200" b="1" spc="100" kern="0" dirty="0">
                <a:solidFill>
                  <a:srgbClr val="00786A"/>
                </a:solidFill>
                <a:latin typeface="Calibri" pitchFamily="34" charset="0"/>
                <a:ea typeface="Calibri" pitchFamily="34" charset="-122"/>
                <a:cs typeface="Calibri" pitchFamily="34" charset="-120"/>
              </a:rPr>
              <a:t>OPERATING SYSTEM</a:t>
            </a:r>
            <a:endParaRPr lang="en-US" sz="1200" dirty="0"/>
          </a:p>
        </p:txBody>
      </p:sp>
      <p:sp>
        <p:nvSpPr>
          <p:cNvPr id="6" name="Text 4"/>
          <p:cNvSpPr txBox="1"/>
          <p:nvPr/>
        </p:nvSpPr>
        <p:spPr>
          <a:xfrm>
            <a:off x="676656" y="2304288"/>
            <a:ext cx="2971800" cy="54864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Provides the kernel, signals and the /proc file system.</a:t>
            </a:r>
            <a:endParaRPr lang="en-US" sz="1450" dirty="0"/>
          </a:p>
        </p:txBody>
      </p:sp>
      <p:sp>
        <p:nvSpPr>
          <p:cNvPr id="7" name="Shape 5"/>
          <p:cNvSpPr/>
          <p:nvPr/>
        </p:nvSpPr>
        <p:spPr>
          <a:xfrm>
            <a:off x="4334256" y="1463040"/>
            <a:ext cx="3520440" cy="1508760"/>
          </a:xfrm>
          <a:prstGeom prst="roundRect">
            <a:avLst>
              <a:gd name="adj" fmla="val 4848"/>
            </a:avLst>
          </a:prstGeom>
          <a:solidFill>
            <a:srgbClr val="F1F5F9"/>
          </a:solidFill>
          <a:ln w="12700">
            <a:solidFill>
              <a:srgbClr val="D8E1E8"/>
            </a:solidFill>
            <a:prstDash val="solid"/>
          </a:ln>
        </p:spPr>
      </p:sp>
      <p:sp>
        <p:nvSpPr>
          <p:cNvPr id="8" name="Text 6"/>
          <p:cNvSpPr txBox="1"/>
          <p:nvPr/>
        </p:nvSpPr>
        <p:spPr>
          <a:xfrm>
            <a:off x="4608576" y="1645920"/>
            <a:ext cx="2971800" cy="384048"/>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C with GCC</a:t>
            </a:r>
            <a:endParaRPr lang="en-US" sz="2000" dirty="0"/>
          </a:p>
        </p:txBody>
      </p:sp>
      <p:sp>
        <p:nvSpPr>
          <p:cNvPr id="9" name="Text 7"/>
          <p:cNvSpPr txBox="1"/>
          <p:nvPr/>
        </p:nvSpPr>
        <p:spPr>
          <a:xfrm>
            <a:off x="4608576" y="2011680"/>
            <a:ext cx="2971800" cy="274320"/>
          </a:xfrm>
          <a:prstGeom prst="rect">
            <a:avLst/>
          </a:prstGeom>
          <a:noFill/>
          <a:ln/>
        </p:spPr>
        <p:txBody>
          <a:bodyPr wrap="square" lIns="0" tIns="0" rIns="0" bIns="0" rtlCol="0" anchor="ctr"/>
          <a:lstStyle/>
          <a:p>
            <a:pPr indent="0" marL="0">
              <a:buNone/>
            </a:pPr>
            <a:r>
              <a:rPr lang="en-US" sz="1200" b="1" spc="100" kern="0" dirty="0">
                <a:solidFill>
                  <a:srgbClr val="00786A"/>
                </a:solidFill>
                <a:latin typeface="Calibri" pitchFamily="34" charset="0"/>
                <a:ea typeface="Calibri" pitchFamily="34" charset="-122"/>
                <a:cs typeface="Calibri" pitchFamily="34" charset="-120"/>
              </a:rPr>
              <a:t>LANGUAGE AND COMPILER</a:t>
            </a:r>
            <a:endParaRPr lang="en-US" sz="1200" dirty="0"/>
          </a:p>
        </p:txBody>
      </p:sp>
      <p:sp>
        <p:nvSpPr>
          <p:cNvPr id="10" name="Text 8"/>
          <p:cNvSpPr txBox="1"/>
          <p:nvPr/>
        </p:nvSpPr>
        <p:spPr>
          <a:xfrm>
            <a:off x="4608576" y="2304288"/>
            <a:ext cx="2971800" cy="54864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Standard language for calling Linux system calls directly.</a:t>
            </a:r>
            <a:endParaRPr lang="en-US" sz="1450" dirty="0"/>
          </a:p>
        </p:txBody>
      </p:sp>
      <p:sp>
        <p:nvSpPr>
          <p:cNvPr id="11" name="Shape 9"/>
          <p:cNvSpPr/>
          <p:nvPr/>
        </p:nvSpPr>
        <p:spPr>
          <a:xfrm>
            <a:off x="8266176" y="1463040"/>
            <a:ext cx="3520440" cy="1508760"/>
          </a:xfrm>
          <a:prstGeom prst="roundRect">
            <a:avLst>
              <a:gd name="adj" fmla="val 4848"/>
            </a:avLst>
          </a:prstGeom>
          <a:solidFill>
            <a:srgbClr val="F1F5F9"/>
          </a:solidFill>
          <a:ln w="12700">
            <a:solidFill>
              <a:srgbClr val="D8E1E8"/>
            </a:solidFill>
            <a:prstDash val="solid"/>
          </a:ln>
        </p:spPr>
      </p:sp>
      <p:sp>
        <p:nvSpPr>
          <p:cNvPr id="12" name="Text 10"/>
          <p:cNvSpPr txBox="1"/>
          <p:nvPr/>
        </p:nvSpPr>
        <p:spPr>
          <a:xfrm>
            <a:off x="8540496" y="1645920"/>
            <a:ext cx="2971800" cy="384048"/>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POSIX API</a:t>
            </a:r>
            <a:endParaRPr lang="en-US" sz="2000" dirty="0"/>
          </a:p>
        </p:txBody>
      </p:sp>
      <p:sp>
        <p:nvSpPr>
          <p:cNvPr id="13" name="Text 11"/>
          <p:cNvSpPr txBox="1"/>
          <p:nvPr/>
        </p:nvSpPr>
        <p:spPr>
          <a:xfrm>
            <a:off x="8540496" y="2011680"/>
            <a:ext cx="2971800" cy="274320"/>
          </a:xfrm>
          <a:prstGeom prst="rect">
            <a:avLst/>
          </a:prstGeom>
          <a:noFill/>
          <a:ln/>
        </p:spPr>
        <p:txBody>
          <a:bodyPr wrap="square" lIns="0" tIns="0" rIns="0" bIns="0" rtlCol="0" anchor="ctr"/>
          <a:lstStyle/>
          <a:p>
            <a:pPr indent="0" marL="0">
              <a:buNone/>
            </a:pPr>
            <a:r>
              <a:rPr lang="en-US" sz="1200" b="1" spc="100" kern="0" dirty="0">
                <a:solidFill>
                  <a:srgbClr val="00786A"/>
                </a:solidFill>
                <a:latin typeface="Calibri" pitchFamily="34" charset="0"/>
                <a:ea typeface="Calibri" pitchFamily="34" charset="-122"/>
                <a:cs typeface="Calibri" pitchFamily="34" charset="-120"/>
              </a:rPr>
              <a:t>SYSTEM INTERFACE</a:t>
            </a:r>
            <a:endParaRPr lang="en-US" sz="1200" dirty="0"/>
          </a:p>
        </p:txBody>
      </p:sp>
      <p:sp>
        <p:nvSpPr>
          <p:cNvPr id="14" name="Text 12"/>
          <p:cNvSpPr txBox="1"/>
          <p:nvPr/>
        </p:nvSpPr>
        <p:spPr>
          <a:xfrm>
            <a:off x="8540496" y="2304288"/>
            <a:ext cx="2971800" cy="54864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Portable set of process, signal and IPC functions.</a:t>
            </a:r>
            <a:endParaRPr lang="en-US" sz="1450" dirty="0"/>
          </a:p>
        </p:txBody>
      </p:sp>
      <p:sp>
        <p:nvSpPr>
          <p:cNvPr id="15" name="Shape 13"/>
          <p:cNvSpPr/>
          <p:nvPr/>
        </p:nvSpPr>
        <p:spPr>
          <a:xfrm>
            <a:off x="402336" y="3291840"/>
            <a:ext cx="3520440" cy="1508760"/>
          </a:xfrm>
          <a:prstGeom prst="roundRect">
            <a:avLst>
              <a:gd name="adj" fmla="val 4848"/>
            </a:avLst>
          </a:prstGeom>
          <a:solidFill>
            <a:srgbClr val="FFFFFF"/>
          </a:solidFill>
          <a:ln w="12700">
            <a:solidFill>
              <a:srgbClr val="D8E1E8"/>
            </a:solidFill>
            <a:prstDash val="solid"/>
          </a:ln>
        </p:spPr>
      </p:sp>
      <p:sp>
        <p:nvSpPr>
          <p:cNvPr id="16" name="Text 14"/>
          <p:cNvSpPr txBox="1"/>
          <p:nvPr/>
        </p:nvSpPr>
        <p:spPr>
          <a:xfrm>
            <a:off x="676656" y="3474720"/>
            <a:ext cx="2971800" cy="384048"/>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Linux Terminal</a:t>
            </a:r>
            <a:endParaRPr lang="en-US" sz="2000" dirty="0"/>
          </a:p>
        </p:txBody>
      </p:sp>
      <p:sp>
        <p:nvSpPr>
          <p:cNvPr id="17" name="Text 15"/>
          <p:cNvSpPr txBox="1"/>
          <p:nvPr/>
        </p:nvSpPr>
        <p:spPr>
          <a:xfrm>
            <a:off x="676656" y="3840480"/>
            <a:ext cx="2971800" cy="274320"/>
          </a:xfrm>
          <a:prstGeom prst="rect">
            <a:avLst/>
          </a:prstGeom>
          <a:noFill/>
          <a:ln/>
        </p:spPr>
        <p:txBody>
          <a:bodyPr wrap="square" lIns="0" tIns="0" rIns="0" bIns="0" rtlCol="0" anchor="ctr"/>
          <a:lstStyle/>
          <a:p>
            <a:pPr indent="0" marL="0">
              <a:buNone/>
            </a:pPr>
            <a:r>
              <a:rPr lang="en-US" sz="1200" b="1" spc="100" kern="0" dirty="0">
                <a:solidFill>
                  <a:srgbClr val="00786A"/>
                </a:solidFill>
                <a:latin typeface="Calibri" pitchFamily="34" charset="0"/>
                <a:ea typeface="Calibri" pitchFamily="34" charset="-122"/>
                <a:cs typeface="Calibri" pitchFamily="34" charset="-120"/>
              </a:rPr>
              <a:t>TEST ENVIRONMENT</a:t>
            </a:r>
            <a:endParaRPr lang="en-US" sz="1200" dirty="0"/>
          </a:p>
        </p:txBody>
      </p:sp>
      <p:sp>
        <p:nvSpPr>
          <p:cNvPr id="18" name="Text 16"/>
          <p:cNvSpPr txBox="1"/>
          <p:nvPr/>
        </p:nvSpPr>
        <p:spPr>
          <a:xfrm>
            <a:off x="676656" y="4133088"/>
            <a:ext cx="2971800" cy="54864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Runs the program and sends FIFO commands from a second window.</a:t>
            </a:r>
            <a:endParaRPr lang="en-US" sz="1450" dirty="0"/>
          </a:p>
        </p:txBody>
      </p:sp>
      <p:sp>
        <p:nvSpPr>
          <p:cNvPr id="19" name="Shape 17"/>
          <p:cNvSpPr/>
          <p:nvPr/>
        </p:nvSpPr>
        <p:spPr>
          <a:xfrm>
            <a:off x="4334256" y="3291840"/>
            <a:ext cx="3520440" cy="1508760"/>
          </a:xfrm>
          <a:prstGeom prst="roundRect">
            <a:avLst>
              <a:gd name="adj" fmla="val 4848"/>
            </a:avLst>
          </a:prstGeom>
          <a:solidFill>
            <a:srgbClr val="FFFFFF"/>
          </a:solidFill>
          <a:ln w="12700">
            <a:solidFill>
              <a:srgbClr val="D8E1E8"/>
            </a:solidFill>
            <a:prstDash val="solid"/>
          </a:ln>
        </p:spPr>
      </p:sp>
      <p:sp>
        <p:nvSpPr>
          <p:cNvPr id="20" name="Text 18"/>
          <p:cNvSpPr txBox="1"/>
          <p:nvPr/>
        </p:nvSpPr>
        <p:spPr>
          <a:xfrm>
            <a:off x="4608576" y="3474720"/>
            <a:ext cx="2971800" cy="384048"/>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VS Code / vim</a:t>
            </a:r>
            <a:endParaRPr lang="en-US" sz="2000" dirty="0"/>
          </a:p>
        </p:txBody>
      </p:sp>
      <p:sp>
        <p:nvSpPr>
          <p:cNvPr id="21" name="Text 19"/>
          <p:cNvSpPr txBox="1"/>
          <p:nvPr/>
        </p:nvSpPr>
        <p:spPr>
          <a:xfrm>
            <a:off x="4608576" y="3840480"/>
            <a:ext cx="2971800" cy="274320"/>
          </a:xfrm>
          <a:prstGeom prst="rect">
            <a:avLst/>
          </a:prstGeom>
          <a:noFill/>
          <a:ln/>
        </p:spPr>
        <p:txBody>
          <a:bodyPr wrap="square" lIns="0" tIns="0" rIns="0" bIns="0" rtlCol="0" anchor="ctr"/>
          <a:lstStyle/>
          <a:p>
            <a:pPr indent="0" marL="0">
              <a:buNone/>
            </a:pPr>
            <a:r>
              <a:rPr lang="en-US" sz="1200" b="1" spc="100" kern="0" dirty="0">
                <a:solidFill>
                  <a:srgbClr val="00786A"/>
                </a:solidFill>
                <a:latin typeface="Calibri" pitchFamily="34" charset="0"/>
                <a:ea typeface="Calibri" pitchFamily="34" charset="-122"/>
                <a:cs typeface="Calibri" pitchFamily="34" charset="-120"/>
              </a:rPr>
              <a:t>EDITOR</a:t>
            </a:r>
            <a:endParaRPr lang="en-US" sz="1200" dirty="0"/>
          </a:p>
        </p:txBody>
      </p:sp>
      <p:sp>
        <p:nvSpPr>
          <p:cNvPr id="22" name="Text 20"/>
          <p:cNvSpPr txBox="1"/>
          <p:nvPr/>
        </p:nvSpPr>
        <p:spPr>
          <a:xfrm>
            <a:off x="4608576" y="4133088"/>
            <a:ext cx="2971800" cy="54864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Writing and organising the project source files.</a:t>
            </a:r>
            <a:endParaRPr lang="en-US" sz="1450" dirty="0"/>
          </a:p>
        </p:txBody>
      </p:sp>
      <p:sp>
        <p:nvSpPr>
          <p:cNvPr id="23" name="Shape 21"/>
          <p:cNvSpPr/>
          <p:nvPr/>
        </p:nvSpPr>
        <p:spPr>
          <a:xfrm>
            <a:off x="8266176" y="3291840"/>
            <a:ext cx="3520440" cy="1508760"/>
          </a:xfrm>
          <a:prstGeom prst="roundRect">
            <a:avLst>
              <a:gd name="adj" fmla="val 4848"/>
            </a:avLst>
          </a:prstGeom>
          <a:solidFill>
            <a:srgbClr val="FFFFFF"/>
          </a:solidFill>
          <a:ln w="12700">
            <a:solidFill>
              <a:srgbClr val="D8E1E8"/>
            </a:solidFill>
            <a:prstDash val="solid"/>
          </a:ln>
        </p:spPr>
      </p:sp>
      <p:sp>
        <p:nvSpPr>
          <p:cNvPr id="24" name="Text 22"/>
          <p:cNvSpPr txBox="1"/>
          <p:nvPr/>
        </p:nvSpPr>
        <p:spPr>
          <a:xfrm>
            <a:off x="8540496" y="3474720"/>
            <a:ext cx="2971800" cy="384048"/>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Git and GitHub</a:t>
            </a:r>
            <a:endParaRPr lang="en-US" sz="2000" dirty="0"/>
          </a:p>
        </p:txBody>
      </p:sp>
      <p:sp>
        <p:nvSpPr>
          <p:cNvPr id="25" name="Text 23"/>
          <p:cNvSpPr txBox="1"/>
          <p:nvPr/>
        </p:nvSpPr>
        <p:spPr>
          <a:xfrm>
            <a:off x="8540496" y="3840480"/>
            <a:ext cx="2971800" cy="274320"/>
          </a:xfrm>
          <a:prstGeom prst="rect">
            <a:avLst/>
          </a:prstGeom>
          <a:noFill/>
          <a:ln/>
        </p:spPr>
        <p:txBody>
          <a:bodyPr wrap="square" lIns="0" tIns="0" rIns="0" bIns="0" rtlCol="0" anchor="ctr"/>
          <a:lstStyle/>
          <a:p>
            <a:pPr indent="0" marL="0">
              <a:buNone/>
            </a:pPr>
            <a:r>
              <a:rPr lang="en-US" sz="1200" b="1" spc="100" kern="0" dirty="0">
                <a:solidFill>
                  <a:srgbClr val="00786A"/>
                </a:solidFill>
                <a:latin typeface="Calibri" pitchFamily="34" charset="0"/>
                <a:ea typeface="Calibri" pitchFamily="34" charset="-122"/>
                <a:cs typeface="Calibri" pitchFamily="34" charset="-120"/>
              </a:rPr>
              <a:t>VERSION CONTROL</a:t>
            </a:r>
            <a:endParaRPr lang="en-US" sz="1200" dirty="0"/>
          </a:p>
        </p:txBody>
      </p:sp>
      <p:sp>
        <p:nvSpPr>
          <p:cNvPr id="26" name="Text 24"/>
          <p:cNvSpPr txBox="1"/>
          <p:nvPr/>
        </p:nvSpPr>
        <p:spPr>
          <a:xfrm>
            <a:off x="8540496" y="4133088"/>
            <a:ext cx="2971800" cy="54864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Tracking progress and submitting the project repository.</a:t>
            </a:r>
            <a:endParaRPr lang="en-US" sz="1450" dirty="0"/>
          </a:p>
        </p:txBody>
      </p:sp>
      <p:sp>
        <p:nvSpPr>
          <p:cNvPr id="27" name="Shape 25"/>
          <p:cNvSpPr/>
          <p:nvPr/>
        </p:nvSpPr>
        <p:spPr>
          <a:xfrm>
            <a:off x="402336" y="5029200"/>
            <a:ext cx="11384280" cy="640080"/>
          </a:xfrm>
          <a:prstGeom prst="roundRect">
            <a:avLst>
              <a:gd name="adj" fmla="val 11429"/>
            </a:avLst>
          </a:prstGeom>
          <a:solidFill>
            <a:srgbClr val="0B1F3A"/>
          </a:solidFill>
          <a:ln w="12700">
            <a:solidFill>
              <a:srgbClr val="0B1F3A"/>
            </a:solidFill>
            <a:prstDash val="solid"/>
          </a:ln>
        </p:spPr>
      </p:sp>
      <p:sp>
        <p:nvSpPr>
          <p:cNvPr id="28" name="Text 26"/>
          <p:cNvSpPr txBox="1"/>
          <p:nvPr/>
        </p:nvSpPr>
        <p:spPr>
          <a:xfrm>
            <a:off x="676656" y="5029200"/>
            <a:ext cx="10835640" cy="640080"/>
          </a:xfrm>
          <a:prstGeom prst="rect">
            <a:avLst/>
          </a:prstGeom>
          <a:noFill/>
          <a:ln/>
        </p:spPr>
        <p:txBody>
          <a:bodyPr wrap="square" lIns="0" tIns="0" rIns="0" bIns="0" rtlCol="0" anchor="ctr"/>
          <a:lstStyle/>
          <a:p>
            <a:pPr indent="0" marL="0">
              <a:buNone/>
            </a:pPr>
            <a:r>
              <a:rPr lang="en-US" sz="1600" b="1" dirty="0">
                <a:solidFill>
                  <a:srgbClr val="00A896"/>
                </a:solidFill>
                <a:latin typeface="Calibri" pitchFamily="34" charset="0"/>
                <a:ea typeface="Calibri" pitchFamily="34" charset="-122"/>
                <a:cs typeface="Calibri" pitchFamily="34" charset="-120"/>
              </a:rPr>
              <a:t>Repository:  </a:t>
            </a:r>
            <a:pPr indent="0" marL="0">
              <a:buNone/>
            </a:pPr>
            <a:r>
              <a:rPr lang="en-US" sz="1400" dirty="0">
                <a:solidFill>
                  <a:srgbClr val="FFFFFF"/>
                </a:solidFill>
                <a:latin typeface="Courier New" pitchFamily="34" charset="0"/>
                <a:ea typeface="Courier New" pitchFamily="34" charset="-122"/>
                <a:cs typeface="Courier New" pitchFamily="34" charset="-120"/>
              </a:rPr>
              <a:t>github.com/lahari2007namala-creator/2520090226_OSSP/tree/main/PROJECT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200" b="1" dirty="0">
                <a:solidFill>
                  <a:srgbClr val="0B1F3A"/>
                </a:solidFill>
                <a:latin typeface="Calibri" pitchFamily="34" charset="0"/>
                <a:ea typeface="Calibri" pitchFamily="34" charset="-122"/>
                <a:cs typeface="Calibri" pitchFamily="34" charset="-120"/>
              </a:rPr>
              <a:t>Expected Outcome</a:t>
            </a:r>
            <a:endParaRPr lang="en-US" sz="3200" dirty="0"/>
          </a:p>
        </p:txBody>
      </p:sp>
      <p:sp>
        <p:nvSpPr>
          <p:cNvPr id="3" name="Shape 1"/>
          <p:cNvSpPr/>
          <p:nvPr/>
        </p:nvSpPr>
        <p:spPr>
          <a:xfrm>
            <a:off x="548640" y="1280160"/>
            <a:ext cx="5394960" cy="1060704"/>
          </a:xfrm>
          <a:prstGeom prst="roundRect">
            <a:avLst>
              <a:gd name="adj" fmla="val 6897"/>
            </a:avLst>
          </a:prstGeom>
          <a:solidFill>
            <a:srgbClr val="F1F5F9"/>
          </a:solidFill>
          <a:ln w="12700">
            <a:solidFill>
              <a:srgbClr val="D8E1E8"/>
            </a:solidFill>
            <a:prstDash val="solid"/>
          </a:ln>
        </p:spPr>
      </p:sp>
      <p:sp>
        <p:nvSpPr>
          <p:cNvPr id="4" name="Shape 2"/>
          <p:cNvSpPr/>
          <p:nvPr/>
        </p:nvSpPr>
        <p:spPr>
          <a:xfrm>
            <a:off x="804672" y="1609344"/>
            <a:ext cx="384048" cy="384048"/>
          </a:xfrm>
          <a:prstGeom prst="ellipse">
            <a:avLst/>
          </a:prstGeom>
          <a:solidFill>
            <a:srgbClr val="00A896"/>
          </a:solidFill>
          <a:ln w="12700">
            <a:solidFill>
              <a:srgbClr val="00A896"/>
            </a:solidFill>
            <a:prstDash val="solid"/>
          </a:ln>
        </p:spPr>
      </p:sp>
      <p:sp>
        <p:nvSpPr>
          <p:cNvPr id="5" name="Text 3"/>
          <p:cNvSpPr txBox="1"/>
          <p:nvPr/>
        </p:nvSpPr>
        <p:spPr>
          <a:xfrm>
            <a:off x="804672" y="1609344"/>
            <a:ext cx="384048" cy="384048"/>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a:t>
            </a:r>
            <a:endParaRPr lang="en-US" sz="1700" dirty="0"/>
          </a:p>
        </p:txBody>
      </p:sp>
      <p:sp>
        <p:nvSpPr>
          <p:cNvPr id="6" name="Text 4"/>
          <p:cNvSpPr txBox="1"/>
          <p:nvPr/>
        </p:nvSpPr>
        <p:spPr>
          <a:xfrm>
            <a:off x="1325880" y="1426464"/>
            <a:ext cx="4343400" cy="365760"/>
          </a:xfrm>
          <a:prstGeom prst="rect">
            <a:avLst/>
          </a:prstGeom>
          <a:noFill/>
          <a:ln/>
        </p:spPr>
        <p:txBody>
          <a:bodyPr wrap="square" lIns="0" tIns="0" rIns="0" bIns="0" rtlCol="0" anchor="ctr"/>
          <a:lstStyle/>
          <a:p>
            <a:pPr indent="0" marL="0">
              <a:buNone/>
            </a:pPr>
            <a:r>
              <a:rPr lang="en-US" sz="1850" b="1" dirty="0">
                <a:solidFill>
                  <a:srgbClr val="0B1F3A"/>
                </a:solidFill>
                <a:latin typeface="Calibri" pitchFamily="34" charset="0"/>
                <a:ea typeface="Calibri" pitchFamily="34" charset="-122"/>
                <a:cs typeface="Calibri" pitchFamily="34" charset="-120"/>
              </a:rPr>
              <a:t>Menu-driven controller</a:t>
            </a:r>
            <a:endParaRPr lang="en-US" sz="1850" dirty="0"/>
          </a:p>
        </p:txBody>
      </p:sp>
      <p:sp>
        <p:nvSpPr>
          <p:cNvPr id="7" name="Text 5"/>
          <p:cNvSpPr txBox="1"/>
          <p:nvPr/>
        </p:nvSpPr>
        <p:spPr>
          <a:xfrm>
            <a:off x="1325880" y="1792224"/>
            <a:ext cx="4343400" cy="45720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A simple text menu to choose the child and the action.</a:t>
            </a:r>
            <a:endParaRPr lang="en-US" sz="1450" dirty="0"/>
          </a:p>
        </p:txBody>
      </p:sp>
      <p:sp>
        <p:nvSpPr>
          <p:cNvPr id="8" name="Shape 6"/>
          <p:cNvSpPr/>
          <p:nvPr/>
        </p:nvSpPr>
        <p:spPr>
          <a:xfrm>
            <a:off x="6245352" y="1280160"/>
            <a:ext cx="5394960" cy="1060704"/>
          </a:xfrm>
          <a:prstGeom prst="roundRect">
            <a:avLst>
              <a:gd name="adj" fmla="val 6897"/>
            </a:avLst>
          </a:prstGeom>
          <a:solidFill>
            <a:srgbClr val="FFFFFF"/>
          </a:solidFill>
          <a:ln w="12700">
            <a:solidFill>
              <a:srgbClr val="D8E1E8"/>
            </a:solidFill>
            <a:prstDash val="solid"/>
          </a:ln>
        </p:spPr>
      </p:sp>
      <p:sp>
        <p:nvSpPr>
          <p:cNvPr id="9" name="Shape 7"/>
          <p:cNvSpPr/>
          <p:nvPr/>
        </p:nvSpPr>
        <p:spPr>
          <a:xfrm>
            <a:off x="6501384" y="1609344"/>
            <a:ext cx="384048" cy="384048"/>
          </a:xfrm>
          <a:prstGeom prst="ellipse">
            <a:avLst/>
          </a:prstGeom>
          <a:solidFill>
            <a:srgbClr val="00A896"/>
          </a:solidFill>
          <a:ln w="12700">
            <a:solidFill>
              <a:srgbClr val="00A896"/>
            </a:solidFill>
            <a:prstDash val="solid"/>
          </a:ln>
        </p:spPr>
      </p:sp>
      <p:sp>
        <p:nvSpPr>
          <p:cNvPr id="10" name="Text 8"/>
          <p:cNvSpPr txBox="1"/>
          <p:nvPr/>
        </p:nvSpPr>
        <p:spPr>
          <a:xfrm>
            <a:off x="6501384" y="1609344"/>
            <a:ext cx="384048" cy="384048"/>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a:t>
            </a:r>
            <a:endParaRPr lang="en-US" sz="1700" dirty="0"/>
          </a:p>
        </p:txBody>
      </p:sp>
      <p:sp>
        <p:nvSpPr>
          <p:cNvPr id="11" name="Text 9"/>
          <p:cNvSpPr txBox="1"/>
          <p:nvPr/>
        </p:nvSpPr>
        <p:spPr>
          <a:xfrm>
            <a:off x="7022592" y="1426464"/>
            <a:ext cx="4343400" cy="365760"/>
          </a:xfrm>
          <a:prstGeom prst="rect">
            <a:avLst/>
          </a:prstGeom>
          <a:noFill/>
          <a:ln/>
        </p:spPr>
        <p:txBody>
          <a:bodyPr wrap="square" lIns="0" tIns="0" rIns="0" bIns="0" rtlCol="0" anchor="ctr"/>
          <a:lstStyle/>
          <a:p>
            <a:pPr indent="0" marL="0">
              <a:buNone/>
            </a:pPr>
            <a:r>
              <a:rPr lang="en-US" sz="1850" b="1" dirty="0">
                <a:solidFill>
                  <a:srgbClr val="0B1F3A"/>
                </a:solidFill>
                <a:latin typeface="Calibri" pitchFamily="34" charset="0"/>
                <a:ea typeface="Calibri" pitchFamily="34" charset="-122"/>
                <a:cs typeface="Calibri" pitchFamily="34" charset="-120"/>
              </a:rPr>
              <a:t>Individual and group control</a:t>
            </a:r>
            <a:endParaRPr lang="en-US" sz="1850" dirty="0"/>
          </a:p>
        </p:txBody>
      </p:sp>
      <p:sp>
        <p:nvSpPr>
          <p:cNvPr id="12" name="Text 10"/>
          <p:cNvSpPr txBox="1"/>
          <p:nvPr/>
        </p:nvSpPr>
        <p:spPr>
          <a:xfrm>
            <a:off x="7022592" y="1792224"/>
            <a:ext cx="4343400" cy="45720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Signal one child by PID, or all three at once by process group.</a:t>
            </a:r>
            <a:endParaRPr lang="en-US" sz="1450" dirty="0"/>
          </a:p>
        </p:txBody>
      </p:sp>
      <p:sp>
        <p:nvSpPr>
          <p:cNvPr id="13" name="Shape 11"/>
          <p:cNvSpPr/>
          <p:nvPr/>
        </p:nvSpPr>
        <p:spPr>
          <a:xfrm>
            <a:off x="548640" y="2459736"/>
            <a:ext cx="5394960" cy="1060704"/>
          </a:xfrm>
          <a:prstGeom prst="roundRect">
            <a:avLst>
              <a:gd name="adj" fmla="val 6897"/>
            </a:avLst>
          </a:prstGeom>
          <a:solidFill>
            <a:srgbClr val="F1F5F9"/>
          </a:solidFill>
          <a:ln w="12700">
            <a:solidFill>
              <a:srgbClr val="D8E1E8"/>
            </a:solidFill>
            <a:prstDash val="solid"/>
          </a:ln>
        </p:spPr>
      </p:sp>
      <p:sp>
        <p:nvSpPr>
          <p:cNvPr id="14" name="Shape 12"/>
          <p:cNvSpPr/>
          <p:nvPr/>
        </p:nvSpPr>
        <p:spPr>
          <a:xfrm>
            <a:off x="804672" y="2788920"/>
            <a:ext cx="384048" cy="384048"/>
          </a:xfrm>
          <a:prstGeom prst="ellipse">
            <a:avLst/>
          </a:prstGeom>
          <a:solidFill>
            <a:srgbClr val="00A896"/>
          </a:solidFill>
          <a:ln w="12700">
            <a:solidFill>
              <a:srgbClr val="00A896"/>
            </a:solidFill>
            <a:prstDash val="solid"/>
          </a:ln>
        </p:spPr>
      </p:sp>
      <p:sp>
        <p:nvSpPr>
          <p:cNvPr id="15" name="Text 13"/>
          <p:cNvSpPr txBox="1"/>
          <p:nvPr/>
        </p:nvSpPr>
        <p:spPr>
          <a:xfrm>
            <a:off x="804672" y="2788920"/>
            <a:ext cx="384048" cy="384048"/>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a:t>
            </a:r>
            <a:endParaRPr lang="en-US" sz="1700" dirty="0"/>
          </a:p>
        </p:txBody>
      </p:sp>
      <p:sp>
        <p:nvSpPr>
          <p:cNvPr id="16" name="Text 14"/>
          <p:cNvSpPr txBox="1"/>
          <p:nvPr/>
        </p:nvSpPr>
        <p:spPr>
          <a:xfrm>
            <a:off x="1325880" y="2606040"/>
            <a:ext cx="4343400" cy="365760"/>
          </a:xfrm>
          <a:prstGeom prst="rect">
            <a:avLst/>
          </a:prstGeom>
          <a:noFill/>
          <a:ln/>
        </p:spPr>
        <p:txBody>
          <a:bodyPr wrap="square" lIns="0" tIns="0" rIns="0" bIns="0" rtlCol="0" anchor="ctr"/>
          <a:lstStyle/>
          <a:p>
            <a:pPr indent="0" marL="0">
              <a:buNone/>
            </a:pPr>
            <a:r>
              <a:rPr lang="en-US" sz="1850" b="1" dirty="0">
                <a:solidFill>
                  <a:srgbClr val="0B1F3A"/>
                </a:solidFill>
                <a:latin typeface="Calibri" pitchFamily="34" charset="0"/>
                <a:ea typeface="Calibri" pitchFamily="34" charset="-122"/>
                <a:cs typeface="Calibri" pitchFamily="34" charset="-120"/>
              </a:rPr>
              <a:t>Pause, resume and status</a:t>
            </a:r>
            <a:endParaRPr lang="en-US" sz="1850" dirty="0"/>
          </a:p>
        </p:txBody>
      </p:sp>
      <p:sp>
        <p:nvSpPr>
          <p:cNvPr id="17" name="Text 15"/>
          <p:cNvSpPr txBox="1"/>
          <p:nvPr/>
        </p:nvSpPr>
        <p:spPr>
          <a:xfrm>
            <a:off x="1325880" y="2971800"/>
            <a:ext cx="4343400" cy="45720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Children can be stopped, continued and asked for their state.</a:t>
            </a:r>
            <a:endParaRPr lang="en-US" sz="1450" dirty="0"/>
          </a:p>
        </p:txBody>
      </p:sp>
      <p:sp>
        <p:nvSpPr>
          <p:cNvPr id="18" name="Shape 16"/>
          <p:cNvSpPr/>
          <p:nvPr/>
        </p:nvSpPr>
        <p:spPr>
          <a:xfrm>
            <a:off x="6245352" y="2459736"/>
            <a:ext cx="5394960" cy="1060704"/>
          </a:xfrm>
          <a:prstGeom prst="roundRect">
            <a:avLst>
              <a:gd name="adj" fmla="val 6897"/>
            </a:avLst>
          </a:prstGeom>
          <a:solidFill>
            <a:srgbClr val="FFFFFF"/>
          </a:solidFill>
          <a:ln w="12700">
            <a:solidFill>
              <a:srgbClr val="D8E1E8"/>
            </a:solidFill>
            <a:prstDash val="solid"/>
          </a:ln>
        </p:spPr>
      </p:sp>
      <p:sp>
        <p:nvSpPr>
          <p:cNvPr id="19" name="Shape 17"/>
          <p:cNvSpPr/>
          <p:nvPr/>
        </p:nvSpPr>
        <p:spPr>
          <a:xfrm>
            <a:off x="6501384" y="2788920"/>
            <a:ext cx="384048" cy="384048"/>
          </a:xfrm>
          <a:prstGeom prst="ellipse">
            <a:avLst/>
          </a:prstGeom>
          <a:solidFill>
            <a:srgbClr val="00A896"/>
          </a:solidFill>
          <a:ln w="12700">
            <a:solidFill>
              <a:srgbClr val="00A896"/>
            </a:solidFill>
            <a:prstDash val="solid"/>
          </a:ln>
        </p:spPr>
      </p:sp>
      <p:sp>
        <p:nvSpPr>
          <p:cNvPr id="20" name="Text 18"/>
          <p:cNvSpPr txBox="1"/>
          <p:nvPr/>
        </p:nvSpPr>
        <p:spPr>
          <a:xfrm>
            <a:off x="6501384" y="2788920"/>
            <a:ext cx="384048" cy="384048"/>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a:t>
            </a:r>
            <a:endParaRPr lang="en-US" sz="1700" dirty="0"/>
          </a:p>
        </p:txBody>
      </p:sp>
      <p:sp>
        <p:nvSpPr>
          <p:cNvPr id="21" name="Text 19"/>
          <p:cNvSpPr txBox="1"/>
          <p:nvPr/>
        </p:nvSpPr>
        <p:spPr>
          <a:xfrm>
            <a:off x="7022592" y="2606040"/>
            <a:ext cx="4343400" cy="365760"/>
          </a:xfrm>
          <a:prstGeom prst="rect">
            <a:avLst/>
          </a:prstGeom>
          <a:noFill/>
          <a:ln/>
        </p:spPr>
        <p:txBody>
          <a:bodyPr wrap="square" lIns="0" tIns="0" rIns="0" bIns="0" rtlCol="0" anchor="ctr"/>
          <a:lstStyle/>
          <a:p>
            <a:pPr indent="0" marL="0">
              <a:buNone/>
            </a:pPr>
            <a:r>
              <a:rPr lang="en-US" sz="1850" b="1" dirty="0">
                <a:solidFill>
                  <a:srgbClr val="0B1F3A"/>
                </a:solidFill>
                <a:latin typeface="Calibri" pitchFamily="34" charset="0"/>
                <a:ea typeface="Calibri" pitchFamily="34" charset="-122"/>
                <a:cs typeface="Calibri" pitchFamily="34" charset="-120"/>
              </a:rPr>
              <a:t>Graceful termination</a:t>
            </a:r>
            <a:endParaRPr lang="en-US" sz="1850" dirty="0"/>
          </a:p>
        </p:txBody>
      </p:sp>
      <p:sp>
        <p:nvSpPr>
          <p:cNvPr id="22" name="Text 20"/>
          <p:cNvSpPr txBox="1"/>
          <p:nvPr/>
        </p:nvSpPr>
        <p:spPr>
          <a:xfrm>
            <a:off x="7022592" y="2971800"/>
            <a:ext cx="4343400" cy="45720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A child finishes its work before exiting on request.</a:t>
            </a:r>
            <a:endParaRPr lang="en-US" sz="1450" dirty="0"/>
          </a:p>
        </p:txBody>
      </p:sp>
      <p:sp>
        <p:nvSpPr>
          <p:cNvPr id="23" name="Shape 21"/>
          <p:cNvSpPr/>
          <p:nvPr/>
        </p:nvSpPr>
        <p:spPr>
          <a:xfrm>
            <a:off x="548640" y="3639312"/>
            <a:ext cx="5394960" cy="1060704"/>
          </a:xfrm>
          <a:prstGeom prst="roundRect">
            <a:avLst>
              <a:gd name="adj" fmla="val 6897"/>
            </a:avLst>
          </a:prstGeom>
          <a:solidFill>
            <a:srgbClr val="F1F5F9"/>
          </a:solidFill>
          <a:ln w="12700">
            <a:solidFill>
              <a:srgbClr val="D8E1E8"/>
            </a:solidFill>
            <a:prstDash val="solid"/>
          </a:ln>
        </p:spPr>
      </p:sp>
      <p:sp>
        <p:nvSpPr>
          <p:cNvPr id="24" name="Shape 22"/>
          <p:cNvSpPr/>
          <p:nvPr/>
        </p:nvSpPr>
        <p:spPr>
          <a:xfrm>
            <a:off x="804672" y="3968496"/>
            <a:ext cx="384048" cy="384048"/>
          </a:xfrm>
          <a:prstGeom prst="ellipse">
            <a:avLst/>
          </a:prstGeom>
          <a:solidFill>
            <a:srgbClr val="00A896"/>
          </a:solidFill>
          <a:ln w="12700">
            <a:solidFill>
              <a:srgbClr val="00A896"/>
            </a:solidFill>
            <a:prstDash val="solid"/>
          </a:ln>
        </p:spPr>
      </p:sp>
      <p:sp>
        <p:nvSpPr>
          <p:cNvPr id="25" name="Text 23"/>
          <p:cNvSpPr txBox="1"/>
          <p:nvPr/>
        </p:nvSpPr>
        <p:spPr>
          <a:xfrm>
            <a:off x="804672" y="3968496"/>
            <a:ext cx="384048" cy="384048"/>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a:t>
            </a:r>
            <a:endParaRPr lang="en-US" sz="1700" dirty="0"/>
          </a:p>
        </p:txBody>
      </p:sp>
      <p:sp>
        <p:nvSpPr>
          <p:cNvPr id="26" name="Text 24"/>
          <p:cNvSpPr txBox="1"/>
          <p:nvPr/>
        </p:nvSpPr>
        <p:spPr>
          <a:xfrm>
            <a:off x="1325880" y="3785616"/>
            <a:ext cx="4343400" cy="365760"/>
          </a:xfrm>
          <a:prstGeom prst="rect">
            <a:avLst/>
          </a:prstGeom>
          <a:noFill/>
          <a:ln/>
        </p:spPr>
        <p:txBody>
          <a:bodyPr wrap="square" lIns="0" tIns="0" rIns="0" bIns="0" rtlCol="0" anchor="ctr"/>
          <a:lstStyle/>
          <a:p>
            <a:pPr indent="0" marL="0">
              <a:buNone/>
            </a:pPr>
            <a:r>
              <a:rPr lang="en-US" sz="1850" b="1" dirty="0">
                <a:solidFill>
                  <a:srgbClr val="0B1F3A"/>
                </a:solidFill>
                <a:latin typeface="Calibri" pitchFamily="34" charset="0"/>
                <a:ea typeface="Calibri" pitchFamily="34" charset="-122"/>
                <a:cs typeface="Calibri" pitchFamily="34" charset="-120"/>
              </a:rPr>
              <a:t>Live event reporting</a:t>
            </a:r>
            <a:endParaRPr lang="en-US" sz="1850" dirty="0"/>
          </a:p>
        </p:txBody>
      </p:sp>
      <p:sp>
        <p:nvSpPr>
          <p:cNvPr id="27" name="Text 25"/>
          <p:cNvSpPr txBox="1"/>
          <p:nvPr/>
        </p:nvSpPr>
        <p:spPr>
          <a:xfrm>
            <a:off x="1325880" y="4151376"/>
            <a:ext cx="4343400" cy="45720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Child events reach the parent through the pipe as they happen.</a:t>
            </a:r>
            <a:endParaRPr lang="en-US" sz="1450" dirty="0"/>
          </a:p>
        </p:txBody>
      </p:sp>
      <p:sp>
        <p:nvSpPr>
          <p:cNvPr id="28" name="Shape 26"/>
          <p:cNvSpPr/>
          <p:nvPr/>
        </p:nvSpPr>
        <p:spPr>
          <a:xfrm>
            <a:off x="6245352" y="3639312"/>
            <a:ext cx="5394960" cy="1060704"/>
          </a:xfrm>
          <a:prstGeom prst="roundRect">
            <a:avLst>
              <a:gd name="adj" fmla="val 6897"/>
            </a:avLst>
          </a:prstGeom>
          <a:solidFill>
            <a:srgbClr val="FFFFFF"/>
          </a:solidFill>
          <a:ln w="12700">
            <a:solidFill>
              <a:srgbClr val="D8E1E8"/>
            </a:solidFill>
            <a:prstDash val="solid"/>
          </a:ln>
        </p:spPr>
      </p:sp>
      <p:sp>
        <p:nvSpPr>
          <p:cNvPr id="29" name="Shape 27"/>
          <p:cNvSpPr/>
          <p:nvPr/>
        </p:nvSpPr>
        <p:spPr>
          <a:xfrm>
            <a:off x="6501384" y="3968496"/>
            <a:ext cx="384048" cy="384048"/>
          </a:xfrm>
          <a:prstGeom prst="ellipse">
            <a:avLst/>
          </a:prstGeom>
          <a:solidFill>
            <a:srgbClr val="00A896"/>
          </a:solidFill>
          <a:ln w="12700">
            <a:solidFill>
              <a:srgbClr val="00A896"/>
            </a:solidFill>
            <a:prstDash val="solid"/>
          </a:ln>
        </p:spPr>
      </p:sp>
      <p:sp>
        <p:nvSpPr>
          <p:cNvPr id="30" name="Text 28"/>
          <p:cNvSpPr txBox="1"/>
          <p:nvPr/>
        </p:nvSpPr>
        <p:spPr>
          <a:xfrm>
            <a:off x="6501384" y="3968496"/>
            <a:ext cx="384048" cy="384048"/>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a:t>
            </a:r>
            <a:endParaRPr lang="en-US" sz="1700" dirty="0"/>
          </a:p>
        </p:txBody>
      </p:sp>
      <p:sp>
        <p:nvSpPr>
          <p:cNvPr id="31" name="Text 29"/>
          <p:cNvSpPr txBox="1"/>
          <p:nvPr/>
        </p:nvSpPr>
        <p:spPr>
          <a:xfrm>
            <a:off x="7022592" y="3785616"/>
            <a:ext cx="4343400" cy="365760"/>
          </a:xfrm>
          <a:prstGeom prst="rect">
            <a:avLst/>
          </a:prstGeom>
          <a:noFill/>
          <a:ln/>
        </p:spPr>
        <p:txBody>
          <a:bodyPr wrap="square" lIns="0" tIns="0" rIns="0" bIns="0" rtlCol="0" anchor="ctr"/>
          <a:lstStyle/>
          <a:p>
            <a:pPr indent="0" marL="0">
              <a:buNone/>
            </a:pPr>
            <a:r>
              <a:rPr lang="en-US" sz="1850" b="1" dirty="0">
                <a:solidFill>
                  <a:srgbClr val="0B1F3A"/>
                </a:solidFill>
                <a:latin typeface="Calibri" pitchFamily="34" charset="0"/>
                <a:ea typeface="Calibri" pitchFamily="34" charset="-122"/>
                <a:cs typeface="Calibri" pitchFamily="34" charset="-120"/>
              </a:rPr>
              <a:t>External FIFO commands</a:t>
            </a:r>
            <a:endParaRPr lang="en-US" sz="1850" dirty="0"/>
          </a:p>
        </p:txBody>
      </p:sp>
      <p:sp>
        <p:nvSpPr>
          <p:cNvPr id="32" name="Text 30"/>
          <p:cNvSpPr txBox="1"/>
          <p:nvPr/>
        </p:nvSpPr>
        <p:spPr>
          <a:xfrm>
            <a:off x="7022592" y="4151376"/>
            <a:ext cx="4343400" cy="45720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A second terminal can control the system without stopping it.</a:t>
            </a:r>
            <a:endParaRPr lang="en-US" sz="1450" dirty="0"/>
          </a:p>
        </p:txBody>
      </p:sp>
      <p:sp>
        <p:nvSpPr>
          <p:cNvPr id="33" name="Shape 31"/>
          <p:cNvSpPr/>
          <p:nvPr/>
        </p:nvSpPr>
        <p:spPr>
          <a:xfrm>
            <a:off x="548640" y="4818888"/>
            <a:ext cx="5394960" cy="1060704"/>
          </a:xfrm>
          <a:prstGeom prst="roundRect">
            <a:avLst>
              <a:gd name="adj" fmla="val 6897"/>
            </a:avLst>
          </a:prstGeom>
          <a:solidFill>
            <a:srgbClr val="F1F5F9"/>
          </a:solidFill>
          <a:ln w="12700">
            <a:solidFill>
              <a:srgbClr val="D8E1E8"/>
            </a:solidFill>
            <a:prstDash val="solid"/>
          </a:ln>
        </p:spPr>
      </p:sp>
      <p:sp>
        <p:nvSpPr>
          <p:cNvPr id="34" name="Shape 32"/>
          <p:cNvSpPr/>
          <p:nvPr/>
        </p:nvSpPr>
        <p:spPr>
          <a:xfrm>
            <a:off x="804672" y="5148072"/>
            <a:ext cx="384048" cy="384048"/>
          </a:xfrm>
          <a:prstGeom prst="ellipse">
            <a:avLst/>
          </a:prstGeom>
          <a:solidFill>
            <a:srgbClr val="00A896"/>
          </a:solidFill>
          <a:ln w="12700">
            <a:solidFill>
              <a:srgbClr val="00A896"/>
            </a:solidFill>
            <a:prstDash val="solid"/>
          </a:ln>
        </p:spPr>
      </p:sp>
      <p:sp>
        <p:nvSpPr>
          <p:cNvPr id="35" name="Text 33"/>
          <p:cNvSpPr txBox="1"/>
          <p:nvPr/>
        </p:nvSpPr>
        <p:spPr>
          <a:xfrm>
            <a:off x="804672" y="5148072"/>
            <a:ext cx="384048" cy="384048"/>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a:t>
            </a:r>
            <a:endParaRPr lang="en-US" sz="1700" dirty="0"/>
          </a:p>
        </p:txBody>
      </p:sp>
      <p:sp>
        <p:nvSpPr>
          <p:cNvPr id="36" name="Text 34"/>
          <p:cNvSpPr txBox="1"/>
          <p:nvPr/>
        </p:nvSpPr>
        <p:spPr>
          <a:xfrm>
            <a:off x="1325880" y="4965192"/>
            <a:ext cx="4343400" cy="365760"/>
          </a:xfrm>
          <a:prstGeom prst="rect">
            <a:avLst/>
          </a:prstGeom>
          <a:noFill/>
          <a:ln/>
        </p:spPr>
        <p:txBody>
          <a:bodyPr wrap="square" lIns="0" tIns="0" rIns="0" bIns="0" rtlCol="0" anchor="ctr"/>
          <a:lstStyle/>
          <a:p>
            <a:pPr indent="0" marL="0">
              <a:buNone/>
            </a:pPr>
            <a:r>
              <a:rPr lang="en-US" sz="1850" b="1" dirty="0">
                <a:solidFill>
                  <a:srgbClr val="0B1F3A"/>
                </a:solidFill>
                <a:latin typeface="Calibri" pitchFamily="34" charset="0"/>
                <a:ea typeface="Calibri" pitchFamily="34" charset="-122"/>
                <a:cs typeface="Calibri" pitchFamily="34" charset="-120"/>
              </a:rPr>
              <a:t>Verified kernel state</a:t>
            </a:r>
            <a:endParaRPr lang="en-US" sz="1850" dirty="0"/>
          </a:p>
        </p:txBody>
      </p:sp>
      <p:sp>
        <p:nvSpPr>
          <p:cNvPr id="37" name="Text 35"/>
          <p:cNvSpPr txBox="1"/>
          <p:nvPr/>
        </p:nvSpPr>
        <p:spPr>
          <a:xfrm>
            <a:off x="1325880" y="5330952"/>
            <a:ext cx="4343400" cy="45720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Each state confirmed from the kernel’s /proc file.</a:t>
            </a:r>
            <a:endParaRPr lang="en-US" sz="1450" dirty="0"/>
          </a:p>
        </p:txBody>
      </p:sp>
      <p:sp>
        <p:nvSpPr>
          <p:cNvPr id="38" name="Shape 36"/>
          <p:cNvSpPr/>
          <p:nvPr/>
        </p:nvSpPr>
        <p:spPr>
          <a:xfrm>
            <a:off x="6245352" y="4818888"/>
            <a:ext cx="5394960" cy="1060704"/>
          </a:xfrm>
          <a:prstGeom prst="roundRect">
            <a:avLst>
              <a:gd name="adj" fmla="val 6897"/>
            </a:avLst>
          </a:prstGeom>
          <a:solidFill>
            <a:srgbClr val="FFFFFF"/>
          </a:solidFill>
          <a:ln w="12700">
            <a:solidFill>
              <a:srgbClr val="D8E1E8"/>
            </a:solidFill>
            <a:prstDash val="solid"/>
          </a:ln>
        </p:spPr>
      </p:sp>
      <p:sp>
        <p:nvSpPr>
          <p:cNvPr id="39" name="Shape 37"/>
          <p:cNvSpPr/>
          <p:nvPr/>
        </p:nvSpPr>
        <p:spPr>
          <a:xfrm>
            <a:off x="6501384" y="5148072"/>
            <a:ext cx="384048" cy="384048"/>
          </a:xfrm>
          <a:prstGeom prst="ellipse">
            <a:avLst/>
          </a:prstGeom>
          <a:solidFill>
            <a:srgbClr val="00A896"/>
          </a:solidFill>
          <a:ln w="12700">
            <a:solidFill>
              <a:srgbClr val="00A896"/>
            </a:solidFill>
            <a:prstDash val="solid"/>
          </a:ln>
        </p:spPr>
      </p:sp>
      <p:sp>
        <p:nvSpPr>
          <p:cNvPr id="40" name="Text 38"/>
          <p:cNvSpPr txBox="1"/>
          <p:nvPr/>
        </p:nvSpPr>
        <p:spPr>
          <a:xfrm>
            <a:off x="6501384" y="5148072"/>
            <a:ext cx="384048" cy="384048"/>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a:t>
            </a:r>
            <a:endParaRPr lang="en-US" sz="1700" dirty="0"/>
          </a:p>
        </p:txBody>
      </p:sp>
      <p:sp>
        <p:nvSpPr>
          <p:cNvPr id="41" name="Text 39"/>
          <p:cNvSpPr txBox="1"/>
          <p:nvPr/>
        </p:nvSpPr>
        <p:spPr>
          <a:xfrm>
            <a:off x="7022592" y="4965192"/>
            <a:ext cx="4343400" cy="365760"/>
          </a:xfrm>
          <a:prstGeom prst="rect">
            <a:avLst/>
          </a:prstGeom>
          <a:noFill/>
          <a:ln/>
        </p:spPr>
        <p:txBody>
          <a:bodyPr wrap="square" lIns="0" tIns="0" rIns="0" bIns="0" rtlCol="0" anchor="ctr"/>
          <a:lstStyle/>
          <a:p>
            <a:pPr indent="0" marL="0">
              <a:buNone/>
            </a:pPr>
            <a:r>
              <a:rPr lang="en-US" sz="1850" b="1" dirty="0">
                <a:solidFill>
                  <a:srgbClr val="0B1F3A"/>
                </a:solidFill>
                <a:latin typeface="Calibri" pitchFamily="34" charset="0"/>
                <a:ea typeface="Calibri" pitchFamily="34" charset="-122"/>
                <a:cs typeface="Calibri" pitchFamily="34" charset="-120"/>
              </a:rPr>
              <a:t>Clean exit, no zombies</a:t>
            </a:r>
            <a:endParaRPr lang="en-US" sz="1850" dirty="0"/>
          </a:p>
        </p:txBody>
      </p:sp>
      <p:sp>
        <p:nvSpPr>
          <p:cNvPr id="42" name="Text 40"/>
          <p:cNvSpPr txBox="1"/>
          <p:nvPr/>
        </p:nvSpPr>
        <p:spPr>
          <a:xfrm>
            <a:off x="7022592" y="5330952"/>
            <a:ext cx="4343400" cy="457200"/>
          </a:xfrm>
          <a:prstGeom prst="rect">
            <a:avLst/>
          </a:prstGeom>
          <a:noFill/>
          <a:ln/>
        </p:spPr>
        <p:txBody>
          <a:bodyPr wrap="square" lIns="0" tIns="0" rIns="0" bIns="0" rtlCol="0" anchor="t"/>
          <a:lstStyle/>
          <a:p>
            <a:pPr indent="0" marL="0">
              <a:lnSpc>
                <a:spcPts val="1800"/>
              </a:lnSpc>
              <a:buNone/>
            </a:pPr>
            <a:r>
              <a:rPr lang="en-US" sz="1450" dirty="0">
                <a:solidFill>
                  <a:srgbClr val="4F6275"/>
                </a:solidFill>
                <a:latin typeface="Calibri" pitchFamily="34" charset="0"/>
                <a:ea typeface="Calibri" pitchFamily="34" charset="-122"/>
                <a:cs typeface="Calibri" pitchFamily="34" charset="-120"/>
              </a:rPr>
              <a:t>Every terminated child is reaped by the parent.</a:t>
            </a:r>
            <a:endParaRPr lang="en-US" sz="1450" dirty="0"/>
          </a:p>
        </p:txBody>
      </p:sp>
      <p:sp>
        <p:nvSpPr>
          <p:cNvPr id="43" name="Text 41"/>
          <p:cNvSpPr txBox="1"/>
          <p:nvPr/>
        </p:nvSpPr>
        <p:spPr>
          <a:xfrm>
            <a:off x="548640" y="6035040"/>
            <a:ext cx="11091672" cy="365760"/>
          </a:xfrm>
          <a:prstGeom prst="rect">
            <a:avLst/>
          </a:prstGeom>
          <a:noFill/>
          <a:ln/>
        </p:spPr>
        <p:txBody>
          <a:bodyPr wrap="square" lIns="0" tIns="0" rIns="0" bIns="0" rtlCol="0" anchor="ctr"/>
          <a:lstStyle/>
          <a:p>
            <a:pPr algn="ctr" indent="0" marL="0">
              <a:buNone/>
            </a:pPr>
            <a:r>
              <a:rPr lang="en-US" sz="1500" i="1" dirty="0">
                <a:solidFill>
                  <a:srgbClr val="4F6275"/>
                </a:solidFill>
                <a:latin typeface="Calibri" pitchFamily="34" charset="0"/>
                <a:ea typeface="Calibri" pitchFamily="34" charset="-122"/>
                <a:cs typeface="Calibri" pitchFamily="34" charset="-120"/>
              </a:rPr>
              <a:t>All items listed above are targeted outcomes — implementation begins after this review.</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200" b="1" dirty="0">
                <a:solidFill>
                  <a:srgbClr val="0B1F3A"/>
                </a:solidFill>
                <a:latin typeface="Calibri" pitchFamily="34" charset="0"/>
                <a:ea typeface="Calibri" pitchFamily="34" charset="-122"/>
                <a:cs typeface="Calibri" pitchFamily="34" charset="-120"/>
              </a:rPr>
              <a:t>Implementation Plan</a:t>
            </a:r>
            <a:endParaRPr lang="en-US" sz="3200" dirty="0"/>
          </a:p>
        </p:txBody>
      </p:sp>
      <p:sp>
        <p:nvSpPr>
          <p:cNvPr id="3" name="Shape 1"/>
          <p:cNvSpPr/>
          <p:nvPr/>
        </p:nvSpPr>
        <p:spPr>
          <a:xfrm>
            <a:off x="420624" y="2103120"/>
            <a:ext cx="2057400" cy="2788920"/>
          </a:xfrm>
          <a:prstGeom prst="roundRect">
            <a:avLst>
              <a:gd name="adj" fmla="val 3556"/>
            </a:avLst>
          </a:prstGeom>
          <a:solidFill>
            <a:srgbClr val="F1F5F9"/>
          </a:solidFill>
          <a:ln w="12700">
            <a:solidFill>
              <a:srgbClr val="D8E1E8"/>
            </a:solidFill>
            <a:prstDash val="solid"/>
          </a:ln>
        </p:spPr>
      </p:sp>
      <p:sp>
        <p:nvSpPr>
          <p:cNvPr id="4" name="Shape 2"/>
          <p:cNvSpPr/>
          <p:nvPr/>
        </p:nvSpPr>
        <p:spPr>
          <a:xfrm>
            <a:off x="1175004" y="1828800"/>
            <a:ext cx="548640" cy="548640"/>
          </a:xfrm>
          <a:prstGeom prst="ellipse">
            <a:avLst/>
          </a:prstGeom>
          <a:solidFill>
            <a:srgbClr val="0B1F3A"/>
          </a:solidFill>
          <a:ln w="25400">
            <a:solidFill>
              <a:srgbClr val="FFFFFF"/>
            </a:solidFill>
            <a:prstDash val="solid"/>
          </a:ln>
        </p:spPr>
      </p:sp>
      <p:sp>
        <p:nvSpPr>
          <p:cNvPr id="5" name="Text 3"/>
          <p:cNvSpPr txBox="1"/>
          <p:nvPr/>
        </p:nvSpPr>
        <p:spPr>
          <a:xfrm>
            <a:off x="1175004" y="1828800"/>
            <a:ext cx="548640" cy="54864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603504" y="2514600"/>
            <a:ext cx="1691640" cy="274320"/>
          </a:xfrm>
          <a:prstGeom prst="rect">
            <a:avLst/>
          </a:prstGeom>
          <a:noFill/>
          <a:ln/>
        </p:spPr>
        <p:txBody>
          <a:bodyPr wrap="square" lIns="0" tIns="0" rIns="0" bIns="0" rtlCol="0" anchor="ctr"/>
          <a:lstStyle/>
          <a:p>
            <a:pPr algn="ctr" indent="0" marL="0">
              <a:buNone/>
            </a:pPr>
            <a:r>
              <a:rPr lang="en-US" sz="1250" b="1" spc="100" kern="0" dirty="0">
                <a:solidFill>
                  <a:srgbClr val="00786A"/>
                </a:solidFill>
                <a:latin typeface="Calibri" pitchFamily="34" charset="0"/>
                <a:ea typeface="Calibri" pitchFamily="34" charset="-122"/>
                <a:cs typeface="Calibri" pitchFamily="34" charset="-120"/>
              </a:rPr>
              <a:t>STAGE 1</a:t>
            </a:r>
            <a:endParaRPr lang="en-US" sz="1250" dirty="0"/>
          </a:p>
        </p:txBody>
      </p:sp>
      <p:sp>
        <p:nvSpPr>
          <p:cNvPr id="7" name="Text 5"/>
          <p:cNvSpPr txBox="1"/>
          <p:nvPr/>
        </p:nvSpPr>
        <p:spPr>
          <a:xfrm>
            <a:off x="603504" y="2816352"/>
            <a:ext cx="1691640" cy="685800"/>
          </a:xfrm>
          <a:prstGeom prst="rect">
            <a:avLst/>
          </a:prstGeom>
          <a:noFill/>
          <a:ln/>
        </p:spPr>
        <p:txBody>
          <a:bodyPr wrap="square" lIns="0" tIns="0" rIns="0" bIns="0" rtlCol="0" anchor="t"/>
          <a:lstStyle/>
          <a:p>
            <a:pPr algn="ctr" indent="0" marL="0">
              <a:lnSpc>
                <a:spcPts val="2200"/>
              </a:lnSpc>
              <a:buNone/>
            </a:pPr>
            <a:r>
              <a:rPr lang="en-US" sz="1800" b="1" dirty="0">
                <a:solidFill>
                  <a:srgbClr val="0B1F3A"/>
                </a:solidFill>
                <a:latin typeface="Calibri" pitchFamily="34" charset="0"/>
                <a:ea typeface="Calibri" pitchFamily="34" charset="-122"/>
                <a:cs typeface="Calibri" pitchFamily="34" charset="-120"/>
              </a:rPr>
              <a:t>Process Creation</a:t>
            </a:r>
            <a:endParaRPr lang="en-US" sz="1800" dirty="0"/>
          </a:p>
        </p:txBody>
      </p:sp>
      <p:sp>
        <p:nvSpPr>
          <p:cNvPr id="8" name="Text 6"/>
          <p:cNvSpPr txBox="1"/>
          <p:nvPr/>
        </p:nvSpPr>
        <p:spPr>
          <a:xfrm>
            <a:off x="603504" y="3383280"/>
            <a:ext cx="1691640" cy="1371600"/>
          </a:xfrm>
          <a:prstGeom prst="rect">
            <a:avLst/>
          </a:prstGeom>
          <a:noFill/>
          <a:ln/>
        </p:spPr>
        <p:txBody>
          <a:bodyPr wrap="square" lIns="0" tIns="0" rIns="0" bIns="0" rtlCol="0" anchor="t"/>
          <a:lstStyle/>
          <a:p>
            <a:pPr algn="ctr" indent="0" marL="0">
              <a:lnSpc>
                <a:spcPts val="1800"/>
              </a:lnSpc>
              <a:buNone/>
            </a:pPr>
            <a:r>
              <a:rPr lang="en-US" sz="1400" dirty="0">
                <a:solidFill>
                  <a:srgbClr val="4F6275"/>
                </a:solidFill>
                <a:latin typeface="Calibri" pitchFamily="34" charset="0"/>
                <a:ea typeface="Calibri" pitchFamily="34" charset="-122"/>
                <a:cs typeface="Calibri" pitchFamily="34" charset="-120"/>
              </a:rPr>
              <a:t>Parent creates three children and groups them together.</a:t>
            </a:r>
            <a:endParaRPr lang="en-US" sz="1400" dirty="0"/>
          </a:p>
        </p:txBody>
      </p:sp>
      <p:sp>
        <p:nvSpPr>
          <p:cNvPr id="9" name="Shape 7"/>
          <p:cNvSpPr/>
          <p:nvPr/>
        </p:nvSpPr>
        <p:spPr>
          <a:xfrm>
            <a:off x="2478024" y="2103120"/>
            <a:ext cx="265176" cy="0"/>
          </a:xfrm>
          <a:prstGeom prst="line">
            <a:avLst/>
          </a:prstGeom>
          <a:noFill/>
          <a:ln w="28575">
            <a:solidFill>
              <a:srgbClr val="00A896"/>
            </a:solidFill>
            <a:prstDash val="solid"/>
            <a:tailEnd type="triangle"/>
          </a:ln>
        </p:spPr>
      </p:sp>
      <p:sp>
        <p:nvSpPr>
          <p:cNvPr id="10" name="Shape 8"/>
          <p:cNvSpPr/>
          <p:nvPr/>
        </p:nvSpPr>
        <p:spPr>
          <a:xfrm>
            <a:off x="2743200" y="2103120"/>
            <a:ext cx="2057400" cy="2788920"/>
          </a:xfrm>
          <a:prstGeom prst="roundRect">
            <a:avLst>
              <a:gd name="adj" fmla="val 3556"/>
            </a:avLst>
          </a:prstGeom>
          <a:solidFill>
            <a:srgbClr val="FFFFFF"/>
          </a:solidFill>
          <a:ln w="12700">
            <a:solidFill>
              <a:srgbClr val="D8E1E8"/>
            </a:solidFill>
            <a:prstDash val="solid"/>
          </a:ln>
        </p:spPr>
      </p:sp>
      <p:sp>
        <p:nvSpPr>
          <p:cNvPr id="11" name="Shape 9"/>
          <p:cNvSpPr/>
          <p:nvPr/>
        </p:nvSpPr>
        <p:spPr>
          <a:xfrm>
            <a:off x="3497580" y="1828800"/>
            <a:ext cx="548640" cy="548640"/>
          </a:xfrm>
          <a:prstGeom prst="ellipse">
            <a:avLst/>
          </a:prstGeom>
          <a:solidFill>
            <a:srgbClr val="0B1F3A"/>
          </a:solidFill>
          <a:ln w="25400">
            <a:solidFill>
              <a:srgbClr val="FFFFFF"/>
            </a:solidFill>
            <a:prstDash val="solid"/>
          </a:ln>
        </p:spPr>
      </p:sp>
      <p:sp>
        <p:nvSpPr>
          <p:cNvPr id="12" name="Text 10"/>
          <p:cNvSpPr txBox="1"/>
          <p:nvPr/>
        </p:nvSpPr>
        <p:spPr>
          <a:xfrm>
            <a:off x="3497580" y="1828800"/>
            <a:ext cx="548640" cy="54864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2926080" y="2514600"/>
            <a:ext cx="1691640" cy="274320"/>
          </a:xfrm>
          <a:prstGeom prst="rect">
            <a:avLst/>
          </a:prstGeom>
          <a:noFill/>
          <a:ln/>
        </p:spPr>
        <p:txBody>
          <a:bodyPr wrap="square" lIns="0" tIns="0" rIns="0" bIns="0" rtlCol="0" anchor="ctr"/>
          <a:lstStyle/>
          <a:p>
            <a:pPr algn="ctr" indent="0" marL="0">
              <a:buNone/>
            </a:pPr>
            <a:r>
              <a:rPr lang="en-US" sz="1250" b="1" spc="100" kern="0" dirty="0">
                <a:solidFill>
                  <a:srgbClr val="00786A"/>
                </a:solidFill>
                <a:latin typeface="Calibri" pitchFamily="34" charset="0"/>
                <a:ea typeface="Calibri" pitchFamily="34" charset="-122"/>
                <a:cs typeface="Calibri" pitchFamily="34" charset="-120"/>
              </a:rPr>
              <a:t>STAGE 2</a:t>
            </a:r>
            <a:endParaRPr lang="en-US" sz="1250" dirty="0"/>
          </a:p>
        </p:txBody>
      </p:sp>
      <p:sp>
        <p:nvSpPr>
          <p:cNvPr id="14" name="Text 12"/>
          <p:cNvSpPr txBox="1"/>
          <p:nvPr/>
        </p:nvSpPr>
        <p:spPr>
          <a:xfrm>
            <a:off x="2926080" y="2816352"/>
            <a:ext cx="1691640" cy="685800"/>
          </a:xfrm>
          <a:prstGeom prst="rect">
            <a:avLst/>
          </a:prstGeom>
          <a:noFill/>
          <a:ln/>
        </p:spPr>
        <p:txBody>
          <a:bodyPr wrap="square" lIns="0" tIns="0" rIns="0" bIns="0" rtlCol="0" anchor="t"/>
          <a:lstStyle/>
          <a:p>
            <a:pPr algn="ctr" indent="0" marL="0">
              <a:lnSpc>
                <a:spcPts val="2200"/>
              </a:lnSpc>
              <a:buNone/>
            </a:pPr>
            <a:r>
              <a:rPr lang="en-US" sz="1800" b="1" dirty="0">
                <a:solidFill>
                  <a:srgbClr val="0B1F3A"/>
                </a:solidFill>
                <a:latin typeface="Calibri" pitchFamily="34" charset="0"/>
                <a:ea typeface="Calibri" pitchFamily="34" charset="-122"/>
                <a:cs typeface="Calibri" pitchFamily="34" charset="-120"/>
              </a:rPr>
              <a:t>Signal Handling</a:t>
            </a:r>
            <a:endParaRPr lang="en-US" sz="1800" dirty="0"/>
          </a:p>
        </p:txBody>
      </p:sp>
      <p:sp>
        <p:nvSpPr>
          <p:cNvPr id="15" name="Text 13"/>
          <p:cNvSpPr txBox="1"/>
          <p:nvPr/>
        </p:nvSpPr>
        <p:spPr>
          <a:xfrm>
            <a:off x="2926080" y="3383280"/>
            <a:ext cx="1691640" cy="1371600"/>
          </a:xfrm>
          <a:prstGeom prst="rect">
            <a:avLst/>
          </a:prstGeom>
          <a:noFill/>
          <a:ln/>
        </p:spPr>
        <p:txBody>
          <a:bodyPr wrap="square" lIns="0" tIns="0" rIns="0" bIns="0" rtlCol="0" anchor="t"/>
          <a:lstStyle/>
          <a:p>
            <a:pPr algn="ctr" indent="0" marL="0">
              <a:lnSpc>
                <a:spcPts val="1800"/>
              </a:lnSpc>
              <a:buNone/>
            </a:pPr>
            <a:r>
              <a:rPr lang="en-US" sz="1400" dirty="0">
                <a:solidFill>
                  <a:srgbClr val="4F6275"/>
                </a:solidFill>
                <a:latin typeface="Calibri" pitchFamily="34" charset="0"/>
                <a:ea typeface="Calibri" pitchFamily="34" charset="-122"/>
                <a:cs typeface="Calibri" pitchFamily="34" charset="-120"/>
              </a:rPr>
              <a:t>Install safe handlers and send signals by PID and by group.</a:t>
            </a:r>
            <a:endParaRPr lang="en-US" sz="1400" dirty="0"/>
          </a:p>
        </p:txBody>
      </p:sp>
      <p:sp>
        <p:nvSpPr>
          <p:cNvPr id="16" name="Shape 14"/>
          <p:cNvSpPr/>
          <p:nvPr/>
        </p:nvSpPr>
        <p:spPr>
          <a:xfrm>
            <a:off x="4800600" y="2103120"/>
            <a:ext cx="265176" cy="0"/>
          </a:xfrm>
          <a:prstGeom prst="line">
            <a:avLst/>
          </a:prstGeom>
          <a:noFill/>
          <a:ln w="28575">
            <a:solidFill>
              <a:srgbClr val="00A896"/>
            </a:solidFill>
            <a:prstDash val="solid"/>
            <a:tailEnd type="triangle"/>
          </a:ln>
        </p:spPr>
      </p:sp>
      <p:sp>
        <p:nvSpPr>
          <p:cNvPr id="17" name="Shape 15"/>
          <p:cNvSpPr/>
          <p:nvPr/>
        </p:nvSpPr>
        <p:spPr>
          <a:xfrm>
            <a:off x="5065776" y="2103120"/>
            <a:ext cx="2057400" cy="2788920"/>
          </a:xfrm>
          <a:prstGeom prst="roundRect">
            <a:avLst>
              <a:gd name="adj" fmla="val 3556"/>
            </a:avLst>
          </a:prstGeom>
          <a:solidFill>
            <a:srgbClr val="F1F5F9"/>
          </a:solidFill>
          <a:ln w="12700">
            <a:solidFill>
              <a:srgbClr val="D8E1E8"/>
            </a:solidFill>
            <a:prstDash val="solid"/>
          </a:ln>
        </p:spPr>
      </p:sp>
      <p:sp>
        <p:nvSpPr>
          <p:cNvPr id="18" name="Shape 16"/>
          <p:cNvSpPr/>
          <p:nvPr/>
        </p:nvSpPr>
        <p:spPr>
          <a:xfrm>
            <a:off x="5820156" y="1828800"/>
            <a:ext cx="548640" cy="548640"/>
          </a:xfrm>
          <a:prstGeom prst="ellipse">
            <a:avLst/>
          </a:prstGeom>
          <a:solidFill>
            <a:srgbClr val="0B1F3A"/>
          </a:solidFill>
          <a:ln w="25400">
            <a:solidFill>
              <a:srgbClr val="FFFFFF"/>
            </a:solidFill>
            <a:prstDash val="solid"/>
          </a:ln>
        </p:spPr>
      </p:sp>
      <p:sp>
        <p:nvSpPr>
          <p:cNvPr id="19" name="Text 17"/>
          <p:cNvSpPr txBox="1"/>
          <p:nvPr/>
        </p:nvSpPr>
        <p:spPr>
          <a:xfrm>
            <a:off x="5820156" y="1828800"/>
            <a:ext cx="548640" cy="54864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3</a:t>
            </a:r>
            <a:endParaRPr lang="en-US" sz="2000" dirty="0"/>
          </a:p>
        </p:txBody>
      </p:sp>
      <p:sp>
        <p:nvSpPr>
          <p:cNvPr id="20" name="Text 18"/>
          <p:cNvSpPr txBox="1"/>
          <p:nvPr/>
        </p:nvSpPr>
        <p:spPr>
          <a:xfrm>
            <a:off x="5248656" y="2514600"/>
            <a:ext cx="1691640" cy="274320"/>
          </a:xfrm>
          <a:prstGeom prst="rect">
            <a:avLst/>
          </a:prstGeom>
          <a:noFill/>
          <a:ln/>
        </p:spPr>
        <p:txBody>
          <a:bodyPr wrap="square" lIns="0" tIns="0" rIns="0" bIns="0" rtlCol="0" anchor="ctr"/>
          <a:lstStyle/>
          <a:p>
            <a:pPr algn="ctr" indent="0" marL="0">
              <a:buNone/>
            </a:pPr>
            <a:r>
              <a:rPr lang="en-US" sz="1250" b="1" spc="100" kern="0" dirty="0">
                <a:solidFill>
                  <a:srgbClr val="00786A"/>
                </a:solidFill>
                <a:latin typeface="Calibri" pitchFamily="34" charset="0"/>
                <a:ea typeface="Calibri" pitchFamily="34" charset="-122"/>
                <a:cs typeface="Calibri" pitchFamily="34" charset="-120"/>
              </a:rPr>
              <a:t>STAGE 3</a:t>
            </a:r>
            <a:endParaRPr lang="en-US" sz="1250" dirty="0"/>
          </a:p>
        </p:txBody>
      </p:sp>
      <p:sp>
        <p:nvSpPr>
          <p:cNvPr id="21" name="Text 19"/>
          <p:cNvSpPr txBox="1"/>
          <p:nvPr/>
        </p:nvSpPr>
        <p:spPr>
          <a:xfrm>
            <a:off x="5248656" y="2816352"/>
            <a:ext cx="1691640" cy="685800"/>
          </a:xfrm>
          <a:prstGeom prst="rect">
            <a:avLst/>
          </a:prstGeom>
          <a:noFill/>
          <a:ln/>
        </p:spPr>
        <p:txBody>
          <a:bodyPr wrap="square" lIns="0" tIns="0" rIns="0" bIns="0" rtlCol="0" anchor="t"/>
          <a:lstStyle/>
          <a:p>
            <a:pPr algn="ctr" indent="0" marL="0">
              <a:lnSpc>
                <a:spcPts val="2200"/>
              </a:lnSpc>
              <a:buNone/>
            </a:pPr>
            <a:r>
              <a:rPr lang="en-US" sz="1800" b="1" dirty="0">
                <a:solidFill>
                  <a:srgbClr val="0B1F3A"/>
                </a:solidFill>
                <a:latin typeface="Calibri" pitchFamily="34" charset="0"/>
                <a:ea typeface="Calibri" pitchFamily="34" charset="-122"/>
                <a:cs typeface="Calibri" pitchFamily="34" charset="-120"/>
              </a:rPr>
              <a:t>Pipe and FIFO</a:t>
            </a:r>
            <a:endParaRPr lang="en-US" sz="1800" dirty="0"/>
          </a:p>
        </p:txBody>
      </p:sp>
      <p:sp>
        <p:nvSpPr>
          <p:cNvPr id="22" name="Text 20"/>
          <p:cNvSpPr txBox="1"/>
          <p:nvPr/>
        </p:nvSpPr>
        <p:spPr>
          <a:xfrm>
            <a:off x="5248656" y="3383280"/>
            <a:ext cx="1691640" cy="1371600"/>
          </a:xfrm>
          <a:prstGeom prst="rect">
            <a:avLst/>
          </a:prstGeom>
          <a:noFill/>
          <a:ln/>
        </p:spPr>
        <p:txBody>
          <a:bodyPr wrap="square" lIns="0" tIns="0" rIns="0" bIns="0" rtlCol="0" anchor="t"/>
          <a:lstStyle/>
          <a:p>
            <a:pPr algn="ctr" indent="0" marL="0">
              <a:lnSpc>
                <a:spcPts val="1800"/>
              </a:lnSpc>
              <a:buNone/>
            </a:pPr>
            <a:r>
              <a:rPr lang="en-US" sz="1400" dirty="0">
                <a:solidFill>
                  <a:srgbClr val="4F6275"/>
                </a:solidFill>
                <a:latin typeface="Calibri" pitchFamily="34" charset="0"/>
                <a:ea typeface="Calibri" pitchFamily="34" charset="-122"/>
                <a:cs typeface="Calibri" pitchFamily="34" charset="-120"/>
              </a:rPr>
              <a:t>Add event reporting through the pipe and commands through the FIFO.</a:t>
            </a:r>
            <a:endParaRPr lang="en-US" sz="1400" dirty="0"/>
          </a:p>
        </p:txBody>
      </p:sp>
      <p:sp>
        <p:nvSpPr>
          <p:cNvPr id="23" name="Shape 21"/>
          <p:cNvSpPr/>
          <p:nvPr/>
        </p:nvSpPr>
        <p:spPr>
          <a:xfrm>
            <a:off x="7123176" y="2103120"/>
            <a:ext cx="265176" cy="0"/>
          </a:xfrm>
          <a:prstGeom prst="line">
            <a:avLst/>
          </a:prstGeom>
          <a:noFill/>
          <a:ln w="28575">
            <a:solidFill>
              <a:srgbClr val="00A896"/>
            </a:solidFill>
            <a:prstDash val="solid"/>
            <a:tailEnd type="triangle"/>
          </a:ln>
        </p:spPr>
      </p:sp>
      <p:sp>
        <p:nvSpPr>
          <p:cNvPr id="24" name="Shape 22"/>
          <p:cNvSpPr/>
          <p:nvPr/>
        </p:nvSpPr>
        <p:spPr>
          <a:xfrm>
            <a:off x="7388352" y="2103120"/>
            <a:ext cx="2057400" cy="2788920"/>
          </a:xfrm>
          <a:prstGeom prst="roundRect">
            <a:avLst>
              <a:gd name="adj" fmla="val 3556"/>
            </a:avLst>
          </a:prstGeom>
          <a:solidFill>
            <a:srgbClr val="FFFFFF"/>
          </a:solidFill>
          <a:ln w="12700">
            <a:solidFill>
              <a:srgbClr val="D8E1E8"/>
            </a:solidFill>
            <a:prstDash val="solid"/>
          </a:ln>
        </p:spPr>
      </p:sp>
      <p:sp>
        <p:nvSpPr>
          <p:cNvPr id="25" name="Shape 23"/>
          <p:cNvSpPr/>
          <p:nvPr/>
        </p:nvSpPr>
        <p:spPr>
          <a:xfrm>
            <a:off x="8142732" y="1828800"/>
            <a:ext cx="548640" cy="548640"/>
          </a:xfrm>
          <a:prstGeom prst="ellipse">
            <a:avLst/>
          </a:prstGeom>
          <a:solidFill>
            <a:srgbClr val="0B1F3A"/>
          </a:solidFill>
          <a:ln w="25400">
            <a:solidFill>
              <a:srgbClr val="FFFFFF"/>
            </a:solidFill>
            <a:prstDash val="solid"/>
          </a:ln>
        </p:spPr>
      </p:sp>
      <p:sp>
        <p:nvSpPr>
          <p:cNvPr id="26" name="Text 24"/>
          <p:cNvSpPr txBox="1"/>
          <p:nvPr/>
        </p:nvSpPr>
        <p:spPr>
          <a:xfrm>
            <a:off x="8142732" y="1828800"/>
            <a:ext cx="548640" cy="54864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4</a:t>
            </a:r>
            <a:endParaRPr lang="en-US" sz="2000" dirty="0"/>
          </a:p>
        </p:txBody>
      </p:sp>
      <p:sp>
        <p:nvSpPr>
          <p:cNvPr id="27" name="Text 25"/>
          <p:cNvSpPr txBox="1"/>
          <p:nvPr/>
        </p:nvSpPr>
        <p:spPr>
          <a:xfrm>
            <a:off x="7571232" y="2514600"/>
            <a:ext cx="1691640" cy="274320"/>
          </a:xfrm>
          <a:prstGeom prst="rect">
            <a:avLst/>
          </a:prstGeom>
          <a:noFill/>
          <a:ln/>
        </p:spPr>
        <p:txBody>
          <a:bodyPr wrap="square" lIns="0" tIns="0" rIns="0" bIns="0" rtlCol="0" anchor="ctr"/>
          <a:lstStyle/>
          <a:p>
            <a:pPr algn="ctr" indent="0" marL="0">
              <a:buNone/>
            </a:pPr>
            <a:r>
              <a:rPr lang="en-US" sz="1250" b="1" spc="100" kern="0" dirty="0">
                <a:solidFill>
                  <a:srgbClr val="00786A"/>
                </a:solidFill>
                <a:latin typeface="Calibri" pitchFamily="34" charset="0"/>
                <a:ea typeface="Calibri" pitchFamily="34" charset="-122"/>
                <a:cs typeface="Calibri" pitchFamily="34" charset="-120"/>
              </a:rPr>
              <a:t>STAGE 4</a:t>
            </a:r>
            <a:endParaRPr lang="en-US" sz="1250" dirty="0"/>
          </a:p>
        </p:txBody>
      </p:sp>
      <p:sp>
        <p:nvSpPr>
          <p:cNvPr id="28" name="Text 26"/>
          <p:cNvSpPr txBox="1"/>
          <p:nvPr/>
        </p:nvSpPr>
        <p:spPr>
          <a:xfrm>
            <a:off x="7571232" y="2816352"/>
            <a:ext cx="1691640" cy="685800"/>
          </a:xfrm>
          <a:prstGeom prst="rect">
            <a:avLst/>
          </a:prstGeom>
          <a:noFill/>
          <a:ln/>
        </p:spPr>
        <p:txBody>
          <a:bodyPr wrap="square" lIns="0" tIns="0" rIns="0" bIns="0" rtlCol="0" anchor="t"/>
          <a:lstStyle/>
          <a:p>
            <a:pPr algn="ctr" indent="0" marL="0">
              <a:lnSpc>
                <a:spcPts val="2200"/>
              </a:lnSpc>
              <a:buNone/>
            </a:pPr>
            <a:r>
              <a:rPr lang="en-US" sz="1800" b="1" dirty="0">
                <a:solidFill>
                  <a:srgbClr val="0B1F3A"/>
                </a:solidFill>
                <a:latin typeface="Calibri" pitchFamily="34" charset="0"/>
                <a:ea typeface="Calibri" pitchFamily="34" charset="-122"/>
                <a:cs typeface="Calibri" pitchFamily="34" charset="-120"/>
              </a:rPr>
              <a:t>State Monitoring</a:t>
            </a:r>
            <a:endParaRPr lang="en-US" sz="1800" dirty="0"/>
          </a:p>
        </p:txBody>
      </p:sp>
      <p:sp>
        <p:nvSpPr>
          <p:cNvPr id="29" name="Text 27"/>
          <p:cNvSpPr txBox="1"/>
          <p:nvPr/>
        </p:nvSpPr>
        <p:spPr>
          <a:xfrm>
            <a:off x="7571232" y="3383280"/>
            <a:ext cx="1691640" cy="1371600"/>
          </a:xfrm>
          <a:prstGeom prst="rect">
            <a:avLst/>
          </a:prstGeom>
          <a:noFill/>
          <a:ln/>
        </p:spPr>
        <p:txBody>
          <a:bodyPr wrap="square" lIns="0" tIns="0" rIns="0" bIns="0" rtlCol="0" anchor="t"/>
          <a:lstStyle/>
          <a:p>
            <a:pPr algn="ctr" indent="0" marL="0">
              <a:lnSpc>
                <a:spcPts val="1800"/>
              </a:lnSpc>
              <a:buNone/>
            </a:pPr>
            <a:r>
              <a:rPr lang="en-US" sz="1400" dirty="0">
                <a:solidFill>
                  <a:srgbClr val="4F6275"/>
                </a:solidFill>
                <a:latin typeface="Calibri" pitchFamily="34" charset="0"/>
                <a:ea typeface="Calibri" pitchFamily="34" charset="-122"/>
                <a:cs typeface="Calibri" pitchFamily="34" charset="-120"/>
              </a:rPr>
              <a:t>Track changes with SIGCHLD and read /proc/[pid]/status.</a:t>
            </a:r>
            <a:endParaRPr lang="en-US" sz="1400" dirty="0"/>
          </a:p>
        </p:txBody>
      </p:sp>
      <p:sp>
        <p:nvSpPr>
          <p:cNvPr id="30" name="Shape 28"/>
          <p:cNvSpPr/>
          <p:nvPr/>
        </p:nvSpPr>
        <p:spPr>
          <a:xfrm>
            <a:off x="9445752" y="2103120"/>
            <a:ext cx="265176" cy="0"/>
          </a:xfrm>
          <a:prstGeom prst="line">
            <a:avLst/>
          </a:prstGeom>
          <a:noFill/>
          <a:ln w="28575">
            <a:solidFill>
              <a:srgbClr val="00A896"/>
            </a:solidFill>
            <a:prstDash val="solid"/>
            <a:tailEnd type="triangle"/>
          </a:ln>
        </p:spPr>
      </p:sp>
      <p:sp>
        <p:nvSpPr>
          <p:cNvPr id="31" name="Shape 29"/>
          <p:cNvSpPr/>
          <p:nvPr/>
        </p:nvSpPr>
        <p:spPr>
          <a:xfrm>
            <a:off x="9710928" y="2103120"/>
            <a:ext cx="2057400" cy="2788920"/>
          </a:xfrm>
          <a:prstGeom prst="roundRect">
            <a:avLst>
              <a:gd name="adj" fmla="val 3556"/>
            </a:avLst>
          </a:prstGeom>
          <a:solidFill>
            <a:srgbClr val="F1F5F9"/>
          </a:solidFill>
          <a:ln w="12700">
            <a:solidFill>
              <a:srgbClr val="D8E1E8"/>
            </a:solidFill>
            <a:prstDash val="solid"/>
          </a:ln>
        </p:spPr>
      </p:sp>
      <p:sp>
        <p:nvSpPr>
          <p:cNvPr id="32" name="Shape 30"/>
          <p:cNvSpPr/>
          <p:nvPr/>
        </p:nvSpPr>
        <p:spPr>
          <a:xfrm>
            <a:off x="10465308" y="1828800"/>
            <a:ext cx="548640" cy="548640"/>
          </a:xfrm>
          <a:prstGeom prst="ellipse">
            <a:avLst/>
          </a:prstGeom>
          <a:solidFill>
            <a:srgbClr val="0B1F3A"/>
          </a:solidFill>
          <a:ln w="25400">
            <a:solidFill>
              <a:srgbClr val="FFFFFF"/>
            </a:solidFill>
            <a:prstDash val="solid"/>
          </a:ln>
        </p:spPr>
      </p:sp>
      <p:sp>
        <p:nvSpPr>
          <p:cNvPr id="33" name="Text 31"/>
          <p:cNvSpPr txBox="1"/>
          <p:nvPr/>
        </p:nvSpPr>
        <p:spPr>
          <a:xfrm>
            <a:off x="10465308" y="1828800"/>
            <a:ext cx="548640" cy="54864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5</a:t>
            </a:r>
            <a:endParaRPr lang="en-US" sz="2000" dirty="0"/>
          </a:p>
        </p:txBody>
      </p:sp>
      <p:sp>
        <p:nvSpPr>
          <p:cNvPr id="34" name="Text 32"/>
          <p:cNvSpPr txBox="1"/>
          <p:nvPr/>
        </p:nvSpPr>
        <p:spPr>
          <a:xfrm>
            <a:off x="9893808" y="2514600"/>
            <a:ext cx="1691640" cy="274320"/>
          </a:xfrm>
          <a:prstGeom prst="rect">
            <a:avLst/>
          </a:prstGeom>
          <a:noFill/>
          <a:ln/>
        </p:spPr>
        <p:txBody>
          <a:bodyPr wrap="square" lIns="0" tIns="0" rIns="0" bIns="0" rtlCol="0" anchor="ctr"/>
          <a:lstStyle/>
          <a:p>
            <a:pPr algn="ctr" indent="0" marL="0">
              <a:buNone/>
            </a:pPr>
            <a:r>
              <a:rPr lang="en-US" sz="1250" b="1" spc="100" kern="0" dirty="0">
                <a:solidFill>
                  <a:srgbClr val="00786A"/>
                </a:solidFill>
                <a:latin typeface="Calibri" pitchFamily="34" charset="0"/>
                <a:ea typeface="Calibri" pitchFamily="34" charset="-122"/>
                <a:cs typeface="Calibri" pitchFamily="34" charset="-120"/>
              </a:rPr>
              <a:t>STAGE 5</a:t>
            </a:r>
            <a:endParaRPr lang="en-US" sz="1250" dirty="0"/>
          </a:p>
        </p:txBody>
      </p:sp>
      <p:sp>
        <p:nvSpPr>
          <p:cNvPr id="35" name="Text 33"/>
          <p:cNvSpPr txBox="1"/>
          <p:nvPr/>
        </p:nvSpPr>
        <p:spPr>
          <a:xfrm>
            <a:off x="9893808" y="2816352"/>
            <a:ext cx="1691640" cy="685800"/>
          </a:xfrm>
          <a:prstGeom prst="rect">
            <a:avLst/>
          </a:prstGeom>
          <a:noFill/>
          <a:ln/>
        </p:spPr>
        <p:txBody>
          <a:bodyPr wrap="square" lIns="0" tIns="0" rIns="0" bIns="0" rtlCol="0" anchor="t"/>
          <a:lstStyle/>
          <a:p>
            <a:pPr algn="ctr" indent="0" marL="0">
              <a:lnSpc>
                <a:spcPts val="2200"/>
              </a:lnSpc>
              <a:buNone/>
            </a:pPr>
            <a:r>
              <a:rPr lang="en-US" sz="1800" b="1" dirty="0">
                <a:solidFill>
                  <a:srgbClr val="0B1F3A"/>
                </a:solidFill>
                <a:latin typeface="Calibri" pitchFamily="34" charset="0"/>
                <a:ea typeface="Calibri" pitchFamily="34" charset="-122"/>
                <a:cs typeface="Calibri" pitchFamily="34" charset="-120"/>
              </a:rPr>
              <a:t>Testing and Cleanup</a:t>
            </a:r>
            <a:endParaRPr lang="en-US" sz="1800" dirty="0"/>
          </a:p>
        </p:txBody>
      </p:sp>
      <p:sp>
        <p:nvSpPr>
          <p:cNvPr id="36" name="Text 34"/>
          <p:cNvSpPr txBox="1"/>
          <p:nvPr/>
        </p:nvSpPr>
        <p:spPr>
          <a:xfrm>
            <a:off x="9893808" y="3383280"/>
            <a:ext cx="1691640" cy="1371600"/>
          </a:xfrm>
          <a:prstGeom prst="rect">
            <a:avLst/>
          </a:prstGeom>
          <a:noFill/>
          <a:ln/>
        </p:spPr>
        <p:txBody>
          <a:bodyPr wrap="square" lIns="0" tIns="0" rIns="0" bIns="0" rtlCol="0" anchor="t"/>
          <a:lstStyle/>
          <a:p>
            <a:pPr algn="ctr" indent="0" marL="0">
              <a:lnSpc>
                <a:spcPts val="1800"/>
              </a:lnSpc>
              <a:buNone/>
            </a:pPr>
            <a:r>
              <a:rPr lang="en-US" sz="1400" dirty="0">
                <a:solidFill>
                  <a:srgbClr val="4F6275"/>
                </a:solidFill>
                <a:latin typeface="Calibri" pitchFamily="34" charset="0"/>
                <a:ea typeface="Calibri" pitchFamily="34" charset="-122"/>
                <a:cs typeface="Calibri" pitchFamily="34" charset="-120"/>
              </a:rPr>
              <a:t>Test the full lifecycle and confirm no zombie processes remain.</a:t>
            </a:r>
            <a:endParaRPr lang="en-US" sz="1400" dirty="0"/>
          </a:p>
        </p:txBody>
      </p:sp>
      <p:sp>
        <p:nvSpPr>
          <p:cNvPr id="37" name="Text 35"/>
          <p:cNvSpPr txBox="1"/>
          <p:nvPr/>
        </p:nvSpPr>
        <p:spPr>
          <a:xfrm>
            <a:off x="548640" y="5440680"/>
            <a:ext cx="11091672" cy="365760"/>
          </a:xfrm>
          <a:prstGeom prst="rect">
            <a:avLst/>
          </a:prstGeom>
          <a:noFill/>
          <a:ln/>
        </p:spPr>
        <p:txBody>
          <a:bodyPr wrap="square" lIns="0" tIns="0" rIns="0" bIns="0" rtlCol="0" anchor="ctr"/>
          <a:lstStyle/>
          <a:p>
            <a:pPr algn="ctr" indent="0" marL="0">
              <a:buNone/>
            </a:pPr>
            <a:r>
              <a:rPr lang="en-US" sz="1600" i="1" dirty="0">
                <a:solidFill>
                  <a:srgbClr val="4F6275"/>
                </a:solidFill>
                <a:latin typeface="Calibri" pitchFamily="34" charset="0"/>
                <a:ea typeface="Calibri" pitchFamily="34" charset="-122"/>
                <a:cs typeface="Calibri" pitchFamily="34" charset="-120"/>
              </a:rPr>
              <a:t>Each stage is tested before the next one begins, so the system grows step by step.</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p:spPr>
      </p:sp>
      <p:sp>
        <p:nvSpPr>
          <p:cNvPr id="3" name="Text 1"/>
          <p:cNvSpPr txBox="1"/>
          <p:nvPr/>
        </p:nvSpPr>
        <p:spPr>
          <a:xfrm>
            <a:off x="822960" y="777240"/>
            <a:ext cx="10543032"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4" name="Shape 2"/>
          <p:cNvSpPr/>
          <p:nvPr/>
        </p:nvSpPr>
        <p:spPr>
          <a:xfrm>
            <a:off x="1280160" y="1691640"/>
            <a:ext cx="9628632" cy="1600200"/>
          </a:xfrm>
          <a:prstGeom prst="roundRect">
            <a:avLst>
              <a:gd name="adj" fmla="val 4571"/>
            </a:avLst>
          </a:prstGeom>
          <a:solidFill>
            <a:srgbClr val="14314F"/>
          </a:solidFill>
          <a:ln w="12700">
            <a:solidFill>
              <a:srgbClr val="2A4A66"/>
            </a:solidFill>
            <a:prstDash val="solid"/>
          </a:ln>
        </p:spPr>
      </p:sp>
      <p:sp>
        <p:nvSpPr>
          <p:cNvPr id="5" name="Text 3"/>
          <p:cNvSpPr txBox="1"/>
          <p:nvPr/>
        </p:nvSpPr>
        <p:spPr>
          <a:xfrm>
            <a:off x="1645920" y="1783080"/>
            <a:ext cx="8897112" cy="1417320"/>
          </a:xfrm>
          <a:prstGeom prst="rect">
            <a:avLst/>
          </a:prstGeom>
          <a:noFill/>
          <a:ln/>
        </p:spPr>
        <p:txBody>
          <a:bodyPr wrap="square" lIns="0" tIns="0" rIns="0" bIns="0" rtlCol="0" anchor="ctr"/>
          <a:lstStyle/>
          <a:p>
            <a:pPr algn="ctr" indent="0" marL="0">
              <a:lnSpc>
                <a:spcPts val="3200"/>
              </a:lnSpc>
              <a:buNone/>
            </a:pPr>
            <a:r>
              <a:rPr lang="en-US" sz="2200" dirty="0">
                <a:solidFill>
                  <a:srgbClr val="D7E2EC"/>
                </a:solidFill>
                <a:latin typeface="Calibri" pitchFamily="34" charset="0"/>
                <a:ea typeface="Calibri" pitchFamily="34" charset="-122"/>
                <a:cs typeface="Calibri" pitchFamily="34" charset="-120"/>
              </a:rPr>
              <a:t>The proposed system demonstrates how Linux processes </a:t>
            </a:r>
            <a:pPr algn="ctr" indent="0" marL="0">
              <a:lnSpc>
                <a:spcPts val="3200"/>
              </a:lnSpc>
              <a:buNone/>
            </a:pPr>
            <a:r>
              <a:rPr lang="en-US" sz="2200" b="1" dirty="0">
                <a:solidFill>
                  <a:srgbClr val="00A896"/>
                </a:solidFill>
                <a:latin typeface="Calibri" pitchFamily="34" charset="0"/>
                <a:ea typeface="Calibri" pitchFamily="34" charset="-122"/>
                <a:cs typeface="Calibri" pitchFamily="34" charset="-120"/>
              </a:rPr>
              <a:t>communicate and change state</a:t>
            </a:r>
            <a:pPr algn="ctr" indent="0" marL="0">
              <a:lnSpc>
                <a:spcPts val="3200"/>
              </a:lnSpc>
              <a:buNone/>
            </a:pPr>
            <a:r>
              <a:rPr lang="en-US" sz="2200" dirty="0">
                <a:solidFill>
                  <a:srgbClr val="D7E2EC"/>
                </a:solidFill>
                <a:latin typeface="Calibri" pitchFamily="34" charset="0"/>
                <a:ea typeface="Calibri" pitchFamily="34" charset="-122"/>
                <a:cs typeface="Calibri" pitchFamily="34" charset="-120"/>
              </a:rPr>
              <a:t> through </a:t>
            </a:r>
            <a:pPr algn="ctr" indent="0" marL="0">
              <a:lnSpc>
                <a:spcPts val="3200"/>
              </a:lnSpc>
              <a:buNone/>
            </a:pPr>
            <a:r>
              <a:rPr lang="en-US" sz="2200" b="1" dirty="0">
                <a:solidFill>
                  <a:srgbClr val="FFFFFF"/>
                </a:solidFill>
                <a:latin typeface="Calibri" pitchFamily="34" charset="0"/>
                <a:ea typeface="Calibri" pitchFamily="34" charset="-122"/>
                <a:cs typeface="Calibri" pitchFamily="34" charset="-120"/>
              </a:rPr>
              <a:t>POSIX signals, pipes, FIFOs, process groups and kernel services</a:t>
            </a:r>
            <a:pPr algn="ctr" indent="0" marL="0">
              <a:lnSpc>
                <a:spcPts val="3200"/>
              </a:lnSpc>
              <a:buNone/>
            </a:pPr>
            <a:r>
              <a:rPr lang="en-US" sz="2200" dirty="0">
                <a:solidFill>
                  <a:srgbClr val="D7E2EC"/>
                </a:solidFill>
                <a:latin typeface="Calibri" pitchFamily="34" charset="0"/>
                <a:ea typeface="Calibri" pitchFamily="34" charset="-122"/>
                <a:cs typeface="Calibri" pitchFamily="34" charset="-120"/>
              </a:rPr>
              <a:t>.</a:t>
            </a:r>
            <a:endParaRPr lang="en-US" sz="2200" dirty="0"/>
          </a:p>
        </p:txBody>
      </p:sp>
      <p:sp>
        <p:nvSpPr>
          <p:cNvPr id="6" name="Shape 4"/>
          <p:cNvSpPr/>
          <p:nvPr/>
        </p:nvSpPr>
        <p:spPr>
          <a:xfrm>
            <a:off x="1568196" y="3611880"/>
            <a:ext cx="2743200" cy="868680"/>
          </a:xfrm>
          <a:prstGeom prst="roundRect">
            <a:avLst>
              <a:gd name="adj" fmla="val 8421"/>
            </a:avLst>
          </a:prstGeom>
          <a:solidFill>
            <a:srgbClr val="14314F"/>
          </a:solidFill>
          <a:ln w="12700">
            <a:solidFill>
              <a:srgbClr val="2A4A66"/>
            </a:solidFill>
            <a:prstDash val="solid"/>
          </a:ln>
        </p:spPr>
      </p:sp>
      <p:sp>
        <p:nvSpPr>
          <p:cNvPr id="7" name="Text 5"/>
          <p:cNvSpPr txBox="1"/>
          <p:nvPr/>
        </p:nvSpPr>
        <p:spPr>
          <a:xfrm>
            <a:off x="1568196" y="3703320"/>
            <a:ext cx="2743200" cy="365760"/>
          </a:xfrm>
          <a:prstGeom prst="rect">
            <a:avLst/>
          </a:prstGeom>
          <a:noFill/>
          <a:ln/>
        </p:spPr>
        <p:txBody>
          <a:bodyPr wrap="square" lIns="0" tIns="0" rIns="0" bIns="0" rtlCol="0" anchor="ctr"/>
          <a:lstStyle/>
          <a:p>
            <a:pPr algn="ctr" indent="0" marL="0">
              <a:buNone/>
            </a:pPr>
            <a:r>
              <a:rPr lang="en-US" sz="1800" b="1" dirty="0">
                <a:solidFill>
                  <a:srgbClr val="00A896"/>
                </a:solidFill>
                <a:latin typeface="Calibri" pitchFamily="34" charset="0"/>
                <a:ea typeface="Calibri" pitchFamily="34" charset="-122"/>
                <a:cs typeface="Calibri" pitchFamily="34" charset="-120"/>
              </a:rPr>
              <a:t>Team 20</a:t>
            </a:r>
            <a:endParaRPr lang="en-US" sz="1800" dirty="0"/>
          </a:p>
        </p:txBody>
      </p:sp>
      <p:sp>
        <p:nvSpPr>
          <p:cNvPr id="8" name="Text 6"/>
          <p:cNvSpPr txBox="1"/>
          <p:nvPr/>
        </p:nvSpPr>
        <p:spPr>
          <a:xfrm>
            <a:off x="1568196" y="4069080"/>
            <a:ext cx="2743200" cy="320040"/>
          </a:xfrm>
          <a:prstGeom prst="rect">
            <a:avLst/>
          </a:prstGeom>
          <a:noFill/>
          <a:ln/>
        </p:spPr>
        <p:txBody>
          <a:bodyPr wrap="square" lIns="0" tIns="0" rIns="0" bIns="0" rtlCol="0" anchor="ctr"/>
          <a:lstStyle/>
          <a:p>
            <a:pPr algn="ctr" indent="0" marL="0">
              <a:buNone/>
            </a:pPr>
            <a:r>
              <a:rPr lang="en-US" sz="1450" dirty="0">
                <a:solidFill>
                  <a:srgbClr val="B9C7D4"/>
                </a:solidFill>
                <a:latin typeface="Calibri" pitchFamily="34" charset="0"/>
                <a:ea typeface="Calibri" pitchFamily="34" charset="-122"/>
                <a:cs typeface="Calibri" pitchFamily="34" charset="-120"/>
              </a:rPr>
              <a:t>Section 13</a:t>
            </a:r>
            <a:endParaRPr lang="en-US" sz="1450" dirty="0"/>
          </a:p>
        </p:txBody>
      </p:sp>
      <p:sp>
        <p:nvSpPr>
          <p:cNvPr id="9" name="Shape 7"/>
          <p:cNvSpPr/>
          <p:nvPr/>
        </p:nvSpPr>
        <p:spPr>
          <a:xfrm>
            <a:off x="4722876" y="3611880"/>
            <a:ext cx="2743200" cy="868680"/>
          </a:xfrm>
          <a:prstGeom prst="roundRect">
            <a:avLst>
              <a:gd name="adj" fmla="val 8421"/>
            </a:avLst>
          </a:prstGeom>
          <a:solidFill>
            <a:srgbClr val="14314F"/>
          </a:solidFill>
          <a:ln w="12700">
            <a:solidFill>
              <a:srgbClr val="2A4A66"/>
            </a:solidFill>
            <a:prstDash val="solid"/>
          </a:ln>
        </p:spPr>
      </p:sp>
      <p:sp>
        <p:nvSpPr>
          <p:cNvPr id="10" name="Text 8"/>
          <p:cNvSpPr txBox="1"/>
          <p:nvPr/>
        </p:nvSpPr>
        <p:spPr>
          <a:xfrm>
            <a:off x="4722876" y="3703320"/>
            <a:ext cx="2743200" cy="365760"/>
          </a:xfrm>
          <a:prstGeom prst="rect">
            <a:avLst/>
          </a:prstGeom>
          <a:noFill/>
          <a:ln/>
        </p:spPr>
        <p:txBody>
          <a:bodyPr wrap="square" lIns="0" tIns="0" rIns="0" bIns="0" rtlCol="0" anchor="ctr"/>
          <a:lstStyle/>
          <a:p>
            <a:pPr algn="ctr" indent="0" marL="0">
              <a:buNone/>
            </a:pPr>
            <a:r>
              <a:rPr lang="en-US" sz="1800" b="1" dirty="0">
                <a:solidFill>
                  <a:srgbClr val="00A896"/>
                </a:solidFill>
                <a:latin typeface="Calibri" pitchFamily="34" charset="0"/>
                <a:ea typeface="Calibri" pitchFamily="34" charset="-122"/>
                <a:cs typeface="Calibri" pitchFamily="34" charset="-120"/>
              </a:rPr>
              <a:t>Review 1</a:t>
            </a:r>
            <a:endParaRPr lang="en-US" sz="1800" dirty="0"/>
          </a:p>
        </p:txBody>
      </p:sp>
      <p:sp>
        <p:nvSpPr>
          <p:cNvPr id="11" name="Text 9"/>
          <p:cNvSpPr txBox="1"/>
          <p:nvPr/>
        </p:nvSpPr>
        <p:spPr>
          <a:xfrm>
            <a:off x="4722876" y="4069080"/>
            <a:ext cx="2743200" cy="320040"/>
          </a:xfrm>
          <a:prstGeom prst="rect">
            <a:avLst/>
          </a:prstGeom>
          <a:noFill/>
          <a:ln/>
        </p:spPr>
        <p:txBody>
          <a:bodyPr wrap="square" lIns="0" tIns="0" rIns="0" bIns="0" rtlCol="0" anchor="ctr"/>
          <a:lstStyle/>
          <a:p>
            <a:pPr algn="ctr" indent="0" marL="0">
              <a:buNone/>
            </a:pPr>
            <a:r>
              <a:rPr lang="en-US" sz="1450" dirty="0">
                <a:solidFill>
                  <a:srgbClr val="B9C7D4"/>
                </a:solidFill>
                <a:latin typeface="Calibri" pitchFamily="34" charset="0"/>
                <a:ea typeface="Calibri" pitchFamily="34" charset="-122"/>
                <a:cs typeface="Calibri" pitchFamily="34" charset="-120"/>
              </a:rPr>
              <a:t>Proposal stage</a:t>
            </a:r>
            <a:endParaRPr lang="en-US" sz="1450" dirty="0"/>
          </a:p>
        </p:txBody>
      </p:sp>
      <p:sp>
        <p:nvSpPr>
          <p:cNvPr id="12" name="Shape 10"/>
          <p:cNvSpPr/>
          <p:nvPr/>
        </p:nvSpPr>
        <p:spPr>
          <a:xfrm>
            <a:off x="7877556" y="3611880"/>
            <a:ext cx="2743200" cy="868680"/>
          </a:xfrm>
          <a:prstGeom prst="roundRect">
            <a:avLst>
              <a:gd name="adj" fmla="val 8421"/>
            </a:avLst>
          </a:prstGeom>
          <a:solidFill>
            <a:srgbClr val="14314F"/>
          </a:solidFill>
          <a:ln w="12700">
            <a:solidFill>
              <a:srgbClr val="2A4A66"/>
            </a:solidFill>
            <a:prstDash val="solid"/>
          </a:ln>
        </p:spPr>
      </p:sp>
      <p:sp>
        <p:nvSpPr>
          <p:cNvPr id="13" name="Text 11"/>
          <p:cNvSpPr txBox="1"/>
          <p:nvPr/>
        </p:nvSpPr>
        <p:spPr>
          <a:xfrm>
            <a:off x="7877556" y="3703320"/>
            <a:ext cx="2743200" cy="365760"/>
          </a:xfrm>
          <a:prstGeom prst="rect">
            <a:avLst/>
          </a:prstGeom>
          <a:noFill/>
          <a:ln/>
        </p:spPr>
        <p:txBody>
          <a:bodyPr wrap="square" lIns="0" tIns="0" rIns="0" bIns="0" rtlCol="0" anchor="ctr"/>
          <a:lstStyle/>
          <a:p>
            <a:pPr algn="ctr" indent="0" marL="0">
              <a:buNone/>
            </a:pPr>
            <a:r>
              <a:rPr lang="en-US" sz="1800" b="1" dirty="0">
                <a:solidFill>
                  <a:srgbClr val="00A896"/>
                </a:solidFill>
                <a:latin typeface="Calibri" pitchFamily="34" charset="0"/>
                <a:ea typeface="Calibri" pitchFamily="34" charset="-122"/>
                <a:cs typeface="Calibri" pitchFamily="34" charset="-120"/>
              </a:rPr>
              <a:t>Next step</a:t>
            </a:r>
            <a:endParaRPr lang="en-US" sz="1800" dirty="0"/>
          </a:p>
        </p:txBody>
      </p:sp>
      <p:sp>
        <p:nvSpPr>
          <p:cNvPr id="14" name="Text 12"/>
          <p:cNvSpPr txBox="1"/>
          <p:nvPr/>
        </p:nvSpPr>
        <p:spPr>
          <a:xfrm>
            <a:off x="7877556" y="4069080"/>
            <a:ext cx="2743200" cy="320040"/>
          </a:xfrm>
          <a:prstGeom prst="rect">
            <a:avLst/>
          </a:prstGeom>
          <a:noFill/>
          <a:ln/>
        </p:spPr>
        <p:txBody>
          <a:bodyPr wrap="square" lIns="0" tIns="0" rIns="0" bIns="0" rtlCol="0" anchor="ctr"/>
          <a:lstStyle/>
          <a:p>
            <a:pPr algn="ctr" indent="0" marL="0">
              <a:buNone/>
            </a:pPr>
            <a:r>
              <a:rPr lang="en-US" sz="1450" dirty="0">
                <a:solidFill>
                  <a:srgbClr val="B9C7D4"/>
                </a:solidFill>
                <a:latin typeface="Calibri" pitchFamily="34" charset="0"/>
                <a:ea typeface="Calibri" pitchFamily="34" charset="-122"/>
                <a:cs typeface="Calibri" pitchFamily="34" charset="-120"/>
              </a:rPr>
              <a:t>Begin Stage 1</a:t>
            </a:r>
            <a:endParaRPr lang="en-US" sz="1450" dirty="0"/>
          </a:p>
        </p:txBody>
      </p:sp>
      <p:sp>
        <p:nvSpPr>
          <p:cNvPr id="15" name="Text 13"/>
          <p:cNvSpPr txBox="1"/>
          <p:nvPr/>
        </p:nvSpPr>
        <p:spPr>
          <a:xfrm>
            <a:off x="1280160" y="4709160"/>
            <a:ext cx="9628632" cy="365760"/>
          </a:xfrm>
          <a:prstGeom prst="rect">
            <a:avLst/>
          </a:prstGeom>
          <a:noFill/>
          <a:ln/>
        </p:spPr>
        <p:txBody>
          <a:bodyPr wrap="square" lIns="0" tIns="0" rIns="0" bIns="0" rtlCol="0" anchor="ctr"/>
          <a:lstStyle/>
          <a:p>
            <a:pPr algn="ctr" indent="0" marL="0">
              <a:buNone/>
            </a:pPr>
            <a:r>
              <a:rPr lang="en-US" sz="1500" b="1" dirty="0">
                <a:solidFill>
                  <a:srgbClr val="00A896"/>
                </a:solidFill>
                <a:latin typeface="Calibri" pitchFamily="34" charset="0"/>
                <a:ea typeface="Calibri" pitchFamily="34" charset="-122"/>
                <a:cs typeface="Calibri" pitchFamily="34" charset="-120"/>
              </a:rPr>
              <a:t>Repository:  </a:t>
            </a:r>
            <a:pPr algn="ctr" indent="0" marL="0">
              <a:buNone/>
            </a:pPr>
            <a:r>
              <a:rPr lang="en-US" sz="1400" dirty="0">
                <a:solidFill>
                  <a:srgbClr val="D7E2EC"/>
                </a:solidFill>
                <a:latin typeface="Courier New" pitchFamily="34" charset="0"/>
                <a:ea typeface="Courier New" pitchFamily="34" charset="-122"/>
                <a:cs typeface="Courier New" pitchFamily="34" charset="-120"/>
              </a:rPr>
              <a:t>github.com/lahari2007namala-creator/2520090226_OSSP/tree/main/PROJECT</a:t>
            </a:r>
            <a:endParaRPr lang="en-US" sz="1500" dirty="0"/>
          </a:p>
        </p:txBody>
      </p:sp>
      <p:sp>
        <p:nvSpPr>
          <p:cNvPr id="16" name="Text 14"/>
          <p:cNvSpPr txBox="1"/>
          <p:nvPr/>
        </p:nvSpPr>
        <p:spPr>
          <a:xfrm>
            <a:off x="1280160" y="5440680"/>
            <a:ext cx="9628632" cy="731520"/>
          </a:xfrm>
          <a:prstGeom prst="rect">
            <a:avLst/>
          </a:prstGeom>
          <a:noFill/>
          <a:ln/>
        </p:spPr>
        <p:txBody>
          <a:bodyPr wrap="square" lIns="0" tIns="0" rIns="0" bIns="0" rtlCol="0" anchor="ctr"/>
          <a:lstStyle/>
          <a:p>
            <a:pPr algn="ctr" indent="0" marL="0">
              <a:buNone/>
            </a:pPr>
            <a:r>
              <a:rPr lang="en-US" sz="4000" b="1" dirty="0">
                <a:solidFill>
                  <a:srgbClr val="00A896"/>
                </a:solidFill>
                <a:latin typeface="Calibri" pitchFamily="34" charset="0"/>
                <a:ea typeface="Calibri" pitchFamily="34" charset="-122"/>
                <a:cs typeface="Calibri" pitchFamily="34" charset="-120"/>
              </a:rPr>
              <a:t>Questions?</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Signal-Based Process Communication and Control System</dc:title>
  <dc:subject>PptxGenJS Presentation</dc:subject>
  <dc:creator>Team 20</dc:creator>
  <cp:lastModifiedBy>Team 20</cp:lastModifiedBy>
  <cp:revision>1</cp:revision>
  <dcterms:created xsi:type="dcterms:W3CDTF">2026-09-18T14:11:47Z</dcterms:created>
  <dcterms:modified xsi:type="dcterms:W3CDTF">2026-09-18T14:11:47Z</dcterms:modified>
</cp:coreProperties>
</file>